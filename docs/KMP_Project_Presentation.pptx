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70" r:id="rId12"/>
    <p:sldId id="263" r:id="rId13"/>
    <p:sldId id="264" r:id="rId14"/>
    <p:sldId id="265" r:id="rId15"/>
    <p:sldId id="266" r:id="rId16"/>
    <p:sldId id="271" r:id="rId17"/>
    <p:sldId id="272" r:id="rId18"/>
    <p:sldId id="275" r:id="rId19"/>
    <p:sldId id="273" r:id="rId20"/>
    <p:sldId id="274" r:id="rId21"/>
    <p:sldId id="267" r:id="rId22"/>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 https://epubs.siam.org/doi/abs/10.1137/0206024</a:t>
            </a:r>
          </a:p>
          <a:p>
            <a:r>
              <a:t>https://algs4.cs.princeton.edu/53substring/</a:t>
            </a:r>
          </a:p>
          <a:p>
            <a:r>
              <a:t>The project uses the LPS formulation of KMP. Princeton also presents a DFA formulation.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Project: High-Performance Text Search Using KMP. Content based on the supplied problem statement and the main.java/index.html implementation. Core complexity excludes file transfer, stored results and UI rendering.</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1524000" y="1122363"/>
            <a:ext cx="9144000" cy="2387600"/>
          </a:xfrm>
          <a:prstGeom prst="rect">
            <a:avLst/>
          </a:prstGeo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831850" y="1709738"/>
            <a:ext cx="10515600" cy="2852737"/>
          </a:xfrm>
          <a:prstGeom prst="rect">
            <a:avLst/>
          </a:prstGeo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Content Placeholder 2"/>
          <p:cNvSpPr>
            <a:spLocks noGrp="1"/>
          </p:cNvSpPr>
          <p:nvPr>
            <p:ph idx="1"/>
          </p:nvPr>
        </p:nvSpPr>
        <p:spPr>
          <a:xfrm>
            <a:off x="838200" y="1825625"/>
            <a:ext cx="5181600" cy="435133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6" name="Footer Placeholder 5"/>
          <p:cNvSpPr>
            <a:spLocks noGrp="1"/>
          </p:cNvSpPr>
          <p:nvPr>
            <p:ph type="ftr" idx="11"/>
          </p:nvPr>
        </p:nvSpPr>
        <p:spPr>
          <a:xfrm>
            <a:off x="4038600" y="6356350"/>
            <a:ext cx="4114800" cy="365125"/>
          </a:xfrm>
          <a:prstGeom prst="rect">
            <a:avLst/>
          </a:prstGeom>
        </p:spPr>
        <p:txBody>
          <a:bodyPr/>
          <a:lstStyle/>
          <a:p/>
        </p:txBody>
      </p:sp>
      <p:sp>
        <p:nvSpPr>
          <p:cNvPr id="7" name="Slide Number Placeholder 6"/>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a:xfrm>
            <a:off x="839788" y="365125"/>
            <a:ext cx="10515600" cy="1325563"/>
          </a:xfrm>
          <a:prstGeom prst="rect">
            <a:avLst/>
          </a:prstGeom>
        </p:spPr>
        <p:txBody>
          <a:bodyPr/>
          <a:lstStyle/>
          <a:p>
            <a:r>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8" name="Footer Placeholder 7"/>
          <p:cNvSpPr>
            <a:spLocks noGrp="1"/>
          </p:cNvSpPr>
          <p:nvPr>
            <p:ph type="ftr" idx="11"/>
          </p:nvPr>
        </p:nvSpPr>
        <p:spPr>
          <a:xfrm>
            <a:off x="4038600" y="6356350"/>
            <a:ext cx="4114800" cy="365125"/>
          </a:xfrm>
          <a:prstGeom prst="rect">
            <a:avLst/>
          </a:prstGeom>
        </p:spPr>
        <p:txBody>
          <a:bodyPr/>
          <a:lstStyle/>
          <a:p/>
        </p:txBody>
      </p:sp>
      <p:sp>
        <p:nvSpPr>
          <p:cNvPr id="9" name="Slide Number Placeholder 8"/>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Date Placeholder 2"/>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4" name="Footer Placeholder 3"/>
          <p:cNvSpPr>
            <a:spLocks noGrp="1"/>
          </p:cNvSpPr>
          <p:nvPr>
            <p:ph type="ftr" idx="11"/>
          </p:nvPr>
        </p:nvSpPr>
        <p:spPr>
          <a:xfrm>
            <a:off x="4038600" y="6356350"/>
            <a:ext cx="4114800" cy="365125"/>
          </a:xfrm>
          <a:prstGeom prst="rect">
            <a:avLst/>
          </a:prstGeom>
        </p:spPr>
        <p:txBody>
          <a:bodyPr/>
          <a:lstStyle/>
          <a:p/>
        </p:txBody>
      </p:sp>
      <p:sp>
        <p:nvSpPr>
          <p:cNvPr id="5" name="Slide Number Placeholder 4"/>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3" name="Footer Placeholder 2"/>
          <p:cNvSpPr>
            <a:spLocks noGrp="1"/>
          </p:cNvSpPr>
          <p:nvPr>
            <p:ph type="ftr" idx="11"/>
          </p:nvPr>
        </p:nvSpPr>
        <p:spPr>
          <a:xfrm>
            <a:off x="4038600" y="6356350"/>
            <a:ext cx="4114800" cy="365125"/>
          </a:xfrm>
          <a:prstGeom prst="rect">
            <a:avLst/>
          </a:prstGeom>
        </p:spPr>
        <p:txBody>
          <a:bodyPr/>
          <a:lstStyle/>
          <a:p/>
        </p:txBody>
      </p:sp>
      <p:sp>
        <p:nvSpPr>
          <p:cNvPr id="4" name="Slide Number Placeholder 3"/>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839788" y="457200"/>
            <a:ext cx="3932237" cy="1600200"/>
          </a:xfrm>
          <a:prstGeom prst="rect">
            <a:avLst/>
          </a:prstGeo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6" name="Footer Placeholder 5"/>
          <p:cNvSpPr>
            <a:spLocks noGrp="1"/>
          </p:cNvSpPr>
          <p:nvPr>
            <p:ph type="ftr" idx="11"/>
          </p:nvPr>
        </p:nvSpPr>
        <p:spPr>
          <a:xfrm>
            <a:off x="4038600" y="6356350"/>
            <a:ext cx="4114800" cy="365125"/>
          </a:xfrm>
          <a:prstGeom prst="rect">
            <a:avLst/>
          </a:prstGeom>
        </p:spPr>
        <p:txBody>
          <a:bodyPr/>
          <a:lstStyle/>
          <a:p/>
        </p:txBody>
      </p:sp>
      <p:sp>
        <p:nvSpPr>
          <p:cNvPr id="7" name="Slide Number Placeholder 6"/>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839788" y="457200"/>
            <a:ext cx="3932237" cy="1600200"/>
          </a:xfrm>
          <a:prstGeom prst="rect">
            <a:avLst/>
          </a:prstGeo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6" name="Footer Placeholder 5"/>
          <p:cNvSpPr>
            <a:spLocks noGrp="1"/>
          </p:cNvSpPr>
          <p:nvPr>
            <p:ph type="ftr" idx="11"/>
          </p:nvPr>
        </p:nvSpPr>
        <p:spPr>
          <a:xfrm>
            <a:off x="4038600" y="6356350"/>
            <a:ext cx="4114800" cy="365125"/>
          </a:xfrm>
          <a:prstGeom prst="rect">
            <a:avLst/>
          </a:prstGeom>
        </p:spPr>
        <p:txBody>
          <a:bodyPr/>
          <a:lstStyle/>
          <a:p/>
        </p:txBody>
      </p:sp>
      <p:sp>
        <p:nvSpPr>
          <p:cNvPr id="7" name="Slide Number Placeholder 6"/>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Vertical Text Placeholder 2"/>
          <p:cNvSpPr>
            <a:spLocks noGrp="1"/>
          </p:cNvSpPr>
          <p:nvPr>
            <p:ph type="body" idx="1"/>
          </p:nvPr>
        </p:nvSpPr>
        <p:spPr>
          <a:xfrm>
            <a:off x="838200" y="1825625"/>
            <a:ext cx="10515600" cy="4351338"/>
          </a:xfrm>
          <a:prstGeom prst="rect">
            <a:avLst/>
          </a:prstGeo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8724900" y="365125"/>
            <a:ext cx="2628900" cy="5811838"/>
          </a:xfrm>
          <a:prstGeom prst="rect">
            <a:avLst/>
          </a:prstGeo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a:prstGeom prst="rect">
            <a:avLst/>
          </a:prstGeo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1524000" y="1122363"/>
            <a:ext cx="9144000" cy="2387600"/>
          </a:xfrm>
          <a:prstGeom prst="rect">
            <a:avLst/>
          </a:prstGeo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831850" y="1709738"/>
            <a:ext cx="10515600" cy="2852737"/>
          </a:xfrm>
          <a:prstGeom prst="rect">
            <a:avLst/>
          </a:prstGeo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Content Placeholder 2"/>
          <p:cNvSpPr>
            <a:spLocks noGrp="1"/>
          </p:cNvSpPr>
          <p:nvPr>
            <p:ph idx="1"/>
          </p:nvPr>
        </p:nvSpPr>
        <p:spPr>
          <a:xfrm>
            <a:off x="838200" y="1825625"/>
            <a:ext cx="5181600" cy="435133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6" name="Footer Placeholder 5"/>
          <p:cNvSpPr>
            <a:spLocks noGrp="1"/>
          </p:cNvSpPr>
          <p:nvPr>
            <p:ph type="ftr" idx="11"/>
          </p:nvPr>
        </p:nvSpPr>
        <p:spPr>
          <a:xfrm>
            <a:off x="4038600" y="6356350"/>
            <a:ext cx="4114800" cy="365125"/>
          </a:xfrm>
          <a:prstGeom prst="rect">
            <a:avLst/>
          </a:prstGeom>
        </p:spPr>
        <p:txBody>
          <a:bodyPr/>
          <a:lstStyle/>
          <a:p/>
        </p:txBody>
      </p:sp>
      <p:sp>
        <p:nvSpPr>
          <p:cNvPr id="7" name="Slide Number Placeholder 6"/>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a:xfrm>
            <a:off x="839788" y="365125"/>
            <a:ext cx="10515600" cy="1325563"/>
          </a:xfrm>
          <a:prstGeom prst="rect">
            <a:avLst/>
          </a:prstGeom>
        </p:spPr>
        <p:txBody>
          <a:bodyPr/>
          <a:lstStyle/>
          <a:p>
            <a:r>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a:prstGeom prst="rect">
            <a:avLst/>
          </a:prstGeo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8" name="Footer Placeholder 7"/>
          <p:cNvSpPr>
            <a:spLocks noGrp="1"/>
          </p:cNvSpPr>
          <p:nvPr>
            <p:ph type="ftr" idx="11"/>
          </p:nvPr>
        </p:nvSpPr>
        <p:spPr>
          <a:xfrm>
            <a:off x="4038600" y="6356350"/>
            <a:ext cx="4114800" cy="365125"/>
          </a:xfrm>
          <a:prstGeom prst="rect">
            <a:avLst/>
          </a:prstGeom>
        </p:spPr>
        <p:txBody>
          <a:bodyPr/>
          <a:lstStyle/>
          <a:p/>
        </p:txBody>
      </p:sp>
      <p:sp>
        <p:nvSpPr>
          <p:cNvPr id="9" name="Slide Number Placeholder 8"/>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Date Placeholder 2"/>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4" name="Footer Placeholder 3"/>
          <p:cNvSpPr>
            <a:spLocks noGrp="1"/>
          </p:cNvSpPr>
          <p:nvPr>
            <p:ph type="ftr" idx="11"/>
          </p:nvPr>
        </p:nvSpPr>
        <p:spPr>
          <a:xfrm>
            <a:off x="4038600" y="6356350"/>
            <a:ext cx="4114800" cy="365125"/>
          </a:xfrm>
          <a:prstGeom prst="rect">
            <a:avLst/>
          </a:prstGeom>
        </p:spPr>
        <p:txBody>
          <a:bodyPr/>
          <a:lstStyle/>
          <a:p/>
        </p:txBody>
      </p:sp>
      <p:sp>
        <p:nvSpPr>
          <p:cNvPr id="5" name="Slide Number Placeholder 4"/>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3" name="Footer Placeholder 2"/>
          <p:cNvSpPr>
            <a:spLocks noGrp="1"/>
          </p:cNvSpPr>
          <p:nvPr>
            <p:ph type="ftr" idx="11"/>
          </p:nvPr>
        </p:nvSpPr>
        <p:spPr>
          <a:xfrm>
            <a:off x="4038600" y="6356350"/>
            <a:ext cx="4114800" cy="365125"/>
          </a:xfrm>
          <a:prstGeom prst="rect">
            <a:avLst/>
          </a:prstGeom>
        </p:spPr>
        <p:txBody>
          <a:bodyPr/>
          <a:lstStyle/>
          <a:p/>
        </p:txBody>
      </p:sp>
      <p:sp>
        <p:nvSpPr>
          <p:cNvPr id="4" name="Slide Number Placeholder 3"/>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839788" y="457200"/>
            <a:ext cx="3932237" cy="1600200"/>
          </a:xfrm>
          <a:prstGeom prst="rect">
            <a:avLst/>
          </a:prstGeo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6" name="Footer Placeholder 5"/>
          <p:cNvSpPr>
            <a:spLocks noGrp="1"/>
          </p:cNvSpPr>
          <p:nvPr>
            <p:ph type="ftr" idx="11"/>
          </p:nvPr>
        </p:nvSpPr>
        <p:spPr>
          <a:xfrm>
            <a:off x="4038600" y="6356350"/>
            <a:ext cx="4114800" cy="365125"/>
          </a:xfrm>
          <a:prstGeom prst="rect">
            <a:avLst/>
          </a:prstGeom>
        </p:spPr>
        <p:txBody>
          <a:bodyPr/>
          <a:lstStyle/>
          <a:p/>
        </p:txBody>
      </p:sp>
      <p:sp>
        <p:nvSpPr>
          <p:cNvPr id="7" name="Slide Number Placeholder 6"/>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839788" y="457200"/>
            <a:ext cx="3932237" cy="1600200"/>
          </a:xfrm>
          <a:prstGeom prst="rect">
            <a:avLst/>
          </a:prstGeo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6" name="Footer Placeholder 5"/>
          <p:cNvSpPr>
            <a:spLocks noGrp="1"/>
          </p:cNvSpPr>
          <p:nvPr>
            <p:ph type="ftr" idx="11"/>
          </p:nvPr>
        </p:nvSpPr>
        <p:spPr>
          <a:xfrm>
            <a:off x="4038600" y="6356350"/>
            <a:ext cx="4114800" cy="365125"/>
          </a:xfrm>
          <a:prstGeom prst="rect">
            <a:avLst/>
          </a:prstGeom>
        </p:spPr>
        <p:txBody>
          <a:bodyPr/>
          <a:lstStyle/>
          <a:p/>
        </p:txBody>
      </p:sp>
      <p:sp>
        <p:nvSpPr>
          <p:cNvPr id="7" name="Slide Number Placeholder 6"/>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a:xfrm>
            <a:off x="838200" y="365125"/>
            <a:ext cx="10515600" cy="1325563"/>
          </a:xfrm>
          <a:prstGeom prst="rect">
            <a:avLst/>
          </a:prstGeom>
        </p:spPr>
        <p:txBody>
          <a:bodyPr/>
          <a:lstStyle/>
          <a:p>
            <a:r>
              <a:t>Click to edit Master title style</a:t>
            </a:r>
          </a:p>
        </p:txBody>
      </p:sp>
      <p:sp>
        <p:nvSpPr>
          <p:cNvPr id="3" name="Vertical Text Placeholder 2"/>
          <p:cNvSpPr>
            <a:spLocks noGrp="1"/>
          </p:cNvSpPr>
          <p:nvPr>
            <p:ph type="body" idx="1"/>
          </p:nvPr>
        </p:nvSpPr>
        <p:spPr>
          <a:xfrm>
            <a:off x="838200" y="1825625"/>
            <a:ext cx="10515600" cy="4351338"/>
          </a:xfrm>
          <a:prstGeom prst="rect">
            <a:avLst/>
          </a:prstGeo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8724900" y="365125"/>
            <a:ext cx="2628900" cy="5811838"/>
          </a:xfrm>
          <a:prstGeom prst="rect">
            <a:avLst/>
          </a:prstGeo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a:prstGeom prst="rect">
            <a:avLst/>
          </a:prstGeo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a:xfrm>
            <a:off x="838200" y="6356350"/>
            <a:ext cx="2743200" cy="365125"/>
          </a:xfrm>
          <a:prstGeom prst="rect">
            <a:avLst/>
          </a:prstGeom>
        </p:spPr>
        <p:txBody>
          <a:bodyPr/>
          <a:lstStyle/>
          <a:p>
            <a:fld id="{45B1BC09-D557-492E-9C5D-E4CF9E078DE2}" type="datetimeFigureOut">
              <a:rPr/>
            </a:fld>
            <a:endParaRPr/>
          </a:p>
        </p:txBody>
      </p:sp>
      <p:sp>
        <p:nvSpPr>
          <p:cNvPr id="5" name="Footer Placeholder 4"/>
          <p:cNvSpPr>
            <a:spLocks noGrp="1"/>
          </p:cNvSpPr>
          <p:nvPr>
            <p:ph type="ftr" idx="11"/>
          </p:nvPr>
        </p:nvSpPr>
        <p:spPr>
          <a:xfrm>
            <a:off x="4038600" y="6356350"/>
            <a:ext cx="4114800" cy="365125"/>
          </a:xfrm>
          <a:prstGeom prst="rect">
            <a:avLst/>
          </a:prstGeom>
        </p:spPr>
        <p:txBody>
          <a:bodyPr/>
          <a:lstStyle/>
          <a:p/>
        </p:txBody>
      </p:sp>
      <p:sp>
        <p:nvSpPr>
          <p:cNvPr id="6" name="Slide Number Placeholder 5"/>
          <p:cNvSpPr>
            <a:spLocks noGrp="1"/>
          </p:cNvSpPr>
          <p:nvPr>
            <p:ph type="sldNum" idx="12"/>
          </p:nvPr>
        </p:nvSpPr>
        <p:spPr>
          <a:xfrm>
            <a:off x="8610600" y="6356350"/>
            <a:ext cx="2743200" cy="365125"/>
          </a:xfrm>
          <a:prstGeom prst="rect">
            <a:avLst/>
          </a:prstGeom>
        </p:spPr>
        <p:txBody>
          <a:bodyPr/>
          <a:lstStyle/>
          <a:p>
            <a:fld id="{7EED5C5B-9EF4-44F9-8A5E-F9CA765F3D63}"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p:pic>
        <p:nvPicPr>
          <p:cNvPr id="12" name="Picture 11"/>
          <p:cNvPicPr>
            <a:picLocks noChangeAspect="1"/>
          </p:cNvPicPr>
          <p:nvPr/>
        </p:nvPicPr>
        <p:blipFill>
          <a:blip r:embed="rId12"/>
          <a:srcRect/>
          <a:stretch>
            <a:fillRect/>
          </a:stretch>
        </p:blipFill>
        <p:spPr>
          <a:xfrm>
            <a:off x="0" y="44450"/>
            <a:ext cx="2101850" cy="900113"/>
          </a:xfrm>
          <a:prstGeom prst="rect">
            <a:avLst/>
          </a:prstGeom>
          <a:ln>
            <a:noFill/>
          </a:ln>
        </p:spPr>
      </p:pic>
      <p:sp>
        <p:nvSpPr>
          <p:cNvPr id="8" name="Rectangle 7"/>
          <p:cNvSpPr>
            <a:spLocks noGrp="1"/>
          </p:cNvSpPr>
          <p:nvPr/>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p>
        </p:txBody>
      </p:sp>
      <p:sp>
        <p:nvSpPr>
          <p:cNvPr id="9" name="Rectangle 8"/>
          <p:cNvSpPr>
            <a:spLocks noGrp="1"/>
          </p:cNvSpPr>
          <p:nvPr/>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p>
        </p:txBody>
      </p:sp>
      <p:pic>
        <p:nvPicPr>
          <p:cNvPr id="15" name="Picture 6"/>
          <p:cNvPicPr>
            <a:picLocks noChangeAspect="1"/>
          </p:cNvPicPr>
          <p:nvPr/>
        </p:nvPicPr>
        <p:blipFill>
          <a:blip r:embed="rId13">
            <a:clrChange>
              <a:clrFrom>
                <a:srgbClr val="FFFFFF"/>
              </a:clrFrom>
              <a:clrTo>
                <a:srgbClr val="FFFFFF">
                  <a:alpha val="0"/>
                </a:srgbClr>
              </a:clrTo>
            </a:clrChange>
          </a:blip>
          <a:srcRect/>
          <a:stretch>
            <a:fillRect/>
          </a:stretch>
        </p:blipFill>
        <p:spPr>
          <a:xfrm>
            <a:off x="0" y="0"/>
            <a:ext cx="3003550" cy="300355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p:pic>
        <p:nvPicPr>
          <p:cNvPr id="12" name="Picture 11"/>
          <p:cNvPicPr>
            <a:picLocks noChangeAspect="1"/>
          </p:cNvPicPr>
          <p:nvPr/>
        </p:nvPicPr>
        <p:blipFill>
          <a:blip r:embed="rId12"/>
          <a:srcRect/>
          <a:stretch>
            <a:fillRect/>
          </a:stretch>
        </p:blipFill>
        <p:spPr>
          <a:xfrm>
            <a:off x="0" y="44450"/>
            <a:ext cx="2101850" cy="900113"/>
          </a:xfrm>
          <a:prstGeom prst="rect">
            <a:avLst/>
          </a:prstGeom>
          <a:ln>
            <a:noFill/>
          </a:ln>
        </p:spPr>
      </p:pic>
      <p:sp>
        <p:nvSpPr>
          <p:cNvPr id="8" name="Rectangle 7"/>
          <p:cNvSpPr>
            <a:spLocks noGrp="1"/>
          </p:cNvSpPr>
          <p:nvPr/>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p>
        </p:txBody>
      </p:sp>
      <p:sp>
        <p:nvSpPr>
          <p:cNvPr id="9" name="Rectangle 8"/>
          <p:cNvSpPr>
            <a:spLocks noGrp="1"/>
          </p:cNvSpPr>
          <p:nvPr/>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buNone/>
            </a:pPr>
          </a:p>
        </p:txBody>
      </p:sp>
      <p:pic>
        <p:nvPicPr>
          <p:cNvPr id="15" name="Picture 6"/>
          <p:cNvPicPr>
            <a:picLocks noChangeAspect="1"/>
          </p:cNvPicPr>
          <p:nvPr/>
        </p:nvPicPr>
        <p:blipFill>
          <a:blip r:embed="rId13">
            <a:clrChange>
              <a:clrFrom>
                <a:srgbClr val="FFFFFF"/>
              </a:clrFrom>
              <a:clrTo>
                <a:srgbClr val="FFFFFF">
                  <a:alpha val="0"/>
                </a:srgbClr>
              </a:clrTo>
            </a:clrChange>
          </a:blip>
          <a:srcRect/>
          <a:stretch>
            <a:fillRect/>
          </a:stretch>
        </p:blipFill>
        <p:spPr>
          <a:xfrm>
            <a:off x="0" y="0"/>
            <a:ext cx="3003550" cy="3003550"/>
          </a:xfrm>
          <a:prstGeom prst="rect">
            <a:avLst/>
          </a:prstGeom>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381250" y="1047750"/>
            <a:ext cx="8953500" cy="2714625"/>
          </a:xfrm>
        </p:spPr>
        <p:txBody>
          <a:bodyPr>
            <a:noAutofit/>
          </a:bodyPr>
          <a:lstStyle/>
          <a:p>
            <a:pPr>
              <a:defRPr sz="3300">
                <a:solidFill>
                  <a:srgbClr val="C00000"/>
                </a:solidFill>
                <a:latin typeface="Calibri" panose="020F0502020204030204"/>
                <a:ea typeface="Calibri" panose="020F0502020204030204"/>
                <a:cs typeface="Calibri" panose="020F0502020204030204"/>
              </a:defRPr>
            </a:pPr>
            <a:r>
              <a:rPr sz="3300">
                <a:solidFill>
                  <a:srgbClr val="C00000"/>
                </a:solidFill>
                <a:latin typeface="Calibri" panose="020F0502020204030204"/>
                <a:ea typeface="Calibri" panose="020F0502020204030204"/>
                <a:cs typeface="Calibri" panose="020F0502020204030204"/>
              </a:rPr>
              <a:t>Data Structures and Algorithms -3</a:t>
            </a:r>
            <a:endParaRPr sz="3300">
              <a:solidFill>
                <a:srgbClr val="C00000"/>
              </a:solidFill>
              <a:latin typeface="Calibri" panose="020F0502020204030204"/>
              <a:ea typeface="Calibri" panose="020F0502020204030204"/>
              <a:cs typeface="Calibri" panose="020F0502020204030204"/>
            </a:endParaRPr>
          </a:p>
          <a:p>
            <a:pPr>
              <a:defRPr sz="3300">
                <a:solidFill>
                  <a:srgbClr val="C00000"/>
                </a:solidFill>
                <a:latin typeface="Calibri" panose="020F0502020204030204"/>
                <a:ea typeface="Calibri" panose="020F0502020204030204"/>
                <a:cs typeface="Calibri" panose="020F0502020204030204"/>
              </a:defRPr>
            </a:pPr>
            <a:r>
              <a:rPr sz="3300">
                <a:solidFill>
                  <a:srgbClr val="C00000"/>
                </a:solidFill>
                <a:latin typeface="Calibri" panose="020F0502020204030204"/>
                <a:ea typeface="Calibri" panose="020F0502020204030204"/>
                <a:cs typeface="Calibri" panose="020F0502020204030204"/>
              </a:rPr>
              <a:t>(25CS2103E)</a:t>
            </a:r>
            <a:endParaRPr sz="3300">
              <a:solidFill>
                <a:srgbClr val="C00000"/>
              </a:solidFill>
              <a:latin typeface="Calibri" panose="020F0502020204030204"/>
              <a:ea typeface="Calibri" panose="020F0502020204030204"/>
              <a:cs typeface="Calibri" panose="020F0502020204030204"/>
            </a:endParaRPr>
          </a:p>
          <a:p>
            <a:endParaRPr sz="3300"/>
          </a:p>
          <a:p>
            <a:pPr>
              <a:defRPr sz="3300">
                <a:solidFill>
                  <a:srgbClr val="C00000"/>
                </a:solidFill>
                <a:latin typeface="Calibri" panose="020F0502020204030204"/>
                <a:ea typeface="Calibri" panose="020F0502020204030204"/>
                <a:cs typeface="Calibri" panose="020F0502020204030204"/>
              </a:defRPr>
            </a:pPr>
            <a:r>
              <a:rPr sz="3300">
                <a:solidFill>
                  <a:srgbClr val="C00000"/>
                </a:solidFill>
                <a:latin typeface="Calibri" panose="020F0502020204030204"/>
                <a:ea typeface="Calibri" panose="020F0502020204030204"/>
                <a:cs typeface="Calibri" panose="020F0502020204030204"/>
              </a:rPr>
              <a:t>High-Performance Text Search</a:t>
            </a:r>
            <a:endParaRPr sz="3300">
              <a:solidFill>
                <a:srgbClr val="C00000"/>
              </a:solidFill>
              <a:latin typeface="Calibri" panose="020F0502020204030204"/>
              <a:ea typeface="Calibri" panose="020F0502020204030204"/>
              <a:cs typeface="Calibri" panose="020F0502020204030204"/>
            </a:endParaRPr>
          </a:p>
          <a:p>
            <a:pPr>
              <a:defRPr sz="3300">
                <a:solidFill>
                  <a:srgbClr val="C00000"/>
                </a:solidFill>
                <a:latin typeface="Calibri" panose="020F0502020204030204"/>
                <a:ea typeface="Calibri" panose="020F0502020204030204"/>
                <a:cs typeface="Calibri" panose="020F0502020204030204"/>
              </a:defRPr>
            </a:pPr>
            <a:r>
              <a:rPr sz="3300">
                <a:solidFill>
                  <a:srgbClr val="C00000"/>
                </a:solidFill>
                <a:latin typeface="Calibri" panose="020F0502020204030204"/>
                <a:ea typeface="Calibri" panose="020F0502020204030204"/>
                <a:cs typeface="Calibri" panose="020F0502020204030204"/>
              </a:rPr>
              <a:t>Using the KMP Algorithm</a:t>
            </a:r>
            <a:endParaRPr sz="3300">
              <a:solidFill>
                <a:srgbClr val="C00000"/>
              </a:solidFill>
              <a:latin typeface="Calibri" panose="020F0502020204030204"/>
              <a:ea typeface="Calibri" panose="020F0502020204030204"/>
              <a:cs typeface="Calibri" panose="020F0502020204030204"/>
            </a:endParaRPr>
          </a:p>
        </p:txBody>
      </p:sp>
      <p:sp>
        <p:nvSpPr>
          <p:cNvPr id="3" name="Subtitle 2"/>
          <p:cNvSpPr>
            <a:spLocks noGrp="1"/>
          </p:cNvSpPr>
          <p:nvPr>
            <p:ph type="subTitle" idx="1"/>
          </p:nvPr>
        </p:nvSpPr>
        <p:spPr>
          <a:xfrm>
            <a:off x="2857500" y="3762375"/>
            <a:ext cx="8001000" cy="1952625"/>
          </a:xfrm>
        </p:spPr>
        <p:txBody>
          <a:bodyPr>
            <a:noAutofit/>
          </a:bodyPr>
          <a:lstStyle/>
          <a:p>
            <a:pPr>
              <a:defRPr sz="2250">
                <a:solidFill>
                  <a:srgbClr val="0070C0"/>
                </a:solidFill>
                <a:latin typeface="Calibri" panose="020F0502020204030204"/>
                <a:ea typeface="Calibri" panose="020F0502020204030204"/>
                <a:cs typeface="Calibri" panose="020F0502020204030204"/>
              </a:defRPr>
            </a:pPr>
            <a:r>
              <a:rPr sz="2250">
                <a:solidFill>
                  <a:srgbClr val="0070C0"/>
                </a:solidFill>
                <a:latin typeface="Calibri" panose="020F0502020204030204"/>
                <a:ea typeface="Calibri" panose="020F0502020204030204"/>
                <a:cs typeface="Calibri" panose="020F0502020204030204"/>
              </a:rPr>
              <a:t>Team Members</a:t>
            </a:r>
            <a:endParaRPr sz="2250">
              <a:solidFill>
                <a:srgbClr val="0070C0"/>
              </a:solidFill>
              <a:latin typeface="Calibri" panose="020F0502020204030204"/>
              <a:ea typeface="Calibri" panose="020F0502020204030204"/>
              <a:cs typeface="Calibri" panose="020F0502020204030204"/>
            </a:endParaRPr>
          </a:p>
          <a:p>
            <a:pPr>
              <a:defRPr sz="2250">
                <a:solidFill>
                  <a:srgbClr val="0070C0"/>
                </a:solidFill>
                <a:latin typeface="Calibri" panose="020F0502020204030204"/>
                <a:ea typeface="Calibri" panose="020F0502020204030204"/>
                <a:cs typeface="Calibri" panose="020F0502020204030204"/>
              </a:defRPr>
            </a:pPr>
            <a:r>
              <a:rPr sz="2250">
                <a:solidFill>
                  <a:srgbClr val="0070C0"/>
                </a:solidFill>
                <a:latin typeface="Calibri" panose="020F0502020204030204"/>
                <a:ea typeface="Calibri" panose="020F0502020204030204"/>
                <a:cs typeface="Calibri" panose="020F0502020204030204"/>
              </a:rPr>
              <a:t>M Jashwanth Reddy   2520030236</a:t>
            </a:r>
            <a:endParaRPr sz="2250">
              <a:solidFill>
                <a:srgbClr val="0070C0"/>
              </a:solidFill>
              <a:latin typeface="Calibri" panose="020F0502020204030204"/>
              <a:ea typeface="Calibri" panose="020F0502020204030204"/>
              <a:cs typeface="Calibri" panose="020F0502020204030204"/>
            </a:endParaRPr>
          </a:p>
          <a:p>
            <a:pPr marL="171450" algn="ctr">
              <a:lnSpc>
                <a:spcPct val="107000"/>
              </a:lnSpc>
              <a:spcAft>
                <a:spcPts val="800"/>
              </a:spcAft>
              <a:buNone/>
              <a:defRPr sz="2250">
                <a:solidFill>
                  <a:srgbClr val="0070C0"/>
                </a:solidFill>
                <a:latin typeface="Calibri" panose="020F0502020204030204"/>
                <a:ea typeface="Calibri" panose="020F0502020204030204"/>
                <a:cs typeface="Calibri" panose="020F0502020204030204"/>
              </a:defRPr>
            </a:pPr>
            <a:r>
              <a:rPr sz="2250">
                <a:solidFill>
                  <a:srgbClr val="0070C0"/>
                </a:solidFill>
                <a:latin typeface="Calibri" panose="020F0502020204030204"/>
                <a:ea typeface="Calibri" panose="020F0502020204030204"/>
                <a:cs typeface="Calibri" panose="020F0502020204030204"/>
              </a:rPr>
              <a:t>G Akshay   2520030363</a:t>
            </a:r>
            <a:endParaRPr sz="1800" kern="0">
              <a:solidFill>
                <a:srgbClr val="000000"/>
              </a:solidFill>
              <a:latin typeface="Times New Roman" panose="02020603050405020304"/>
              <a:ea typeface="Times New Roman" panose="02020603050405020304"/>
              <a:cs typeface="Times New Roman" panose="02020603050405020304"/>
            </a:endParaRPr>
          </a:p>
          <a:p>
            <a:pPr marL="171450" algn="ctr">
              <a:lnSpc>
                <a:spcPct val="107000"/>
              </a:lnSpc>
              <a:spcAft>
                <a:spcPts val="800"/>
              </a:spcAft>
              <a:buNone/>
              <a:defRPr sz="2250">
                <a:solidFill>
                  <a:srgbClr val="0070C0"/>
                </a:solidFill>
                <a:latin typeface="Calibri" panose="020F0502020204030204"/>
                <a:ea typeface="Calibri" panose="020F0502020204030204"/>
                <a:cs typeface="Calibri" panose="020F0502020204030204"/>
              </a:defRPr>
            </a:pPr>
            <a:r>
              <a:rPr sz="2250">
                <a:solidFill>
                  <a:srgbClr val="0070C0"/>
                </a:solidFill>
                <a:latin typeface="Calibri" panose="020F0502020204030204"/>
                <a:ea typeface="Calibri" panose="020F0502020204030204"/>
                <a:cs typeface="Calibri" panose="020F0502020204030204"/>
              </a:rPr>
              <a:t>M Ritvik Chowdhary   2500030236</a:t>
            </a:r>
            <a:endParaRPr sz="1800" kern="100">
              <a:latin typeface="Calibri" panose="020F0502020204030204"/>
              <a:ea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Box 6"/>
          <p:cNvSpPr>
            <a:spLocks noGrp="1"/>
          </p:cNvSpPr>
          <p:nvPr/>
        </p:nvSpPr>
        <p:spPr>
          <a:xfrm>
            <a:off x="3714750" y="1143000"/>
            <a:ext cx="7810500" cy="5779008"/>
          </a:xfrm>
          <a:prstGeom prst="rect">
            <a:avLst/>
          </a:prstGeom>
          <a:noFill/>
        </p:spPr>
        <p:txBody>
          <a:bodyPr wrap="none">
            <a:noAutofit/>
          </a:bodyPr>
          <a:lstStyle/>
          <a:p>
            <a:pPr marL="457200" indent="-457200" algn="l">
              <a:lnSpc>
                <a:spcPct val="150000"/>
              </a:lnSpc>
              <a:spcBef>
                <a:spcPts val="0"/>
              </a:spcBef>
              <a:spcAft>
                <a:spcPts val="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Abstract</a:t>
            </a:r>
            <a:endParaRPr sz="2400" b="0" i="0" u="none">
              <a:solidFill>
                <a:srgbClr val="222222"/>
              </a:solidFill>
              <a:latin typeface="Calibri" panose="020F0502020204030204"/>
              <a:ea typeface="Calibri" panose="020F0502020204030204"/>
              <a:cs typeface="Calibri" panose="020F0502020204030204"/>
            </a:endParaRPr>
          </a:p>
          <a:p>
            <a:pPr marL="457200" indent="-457200" algn="l">
              <a:lnSpc>
                <a:spcPct val="150000"/>
              </a:lnSpc>
              <a:spcBef>
                <a:spcPts val="0"/>
              </a:spcBef>
              <a:spcAft>
                <a:spcPts val="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Introduction</a:t>
            </a:r>
            <a:endParaRPr sz="3200" b="0" i="0" u="none">
              <a:latin typeface="Arial" panose="020B0604020202020204"/>
              <a:ea typeface="Arial" panose="020B0604020202020204"/>
              <a:cs typeface="Arial" panose="020B0604020202020204"/>
            </a:endParaRPr>
          </a:p>
          <a:p>
            <a:pPr marL="457200" indent="-457200" algn="l">
              <a:lnSpc>
                <a:spcPct val="150000"/>
              </a:lnSpc>
              <a:spcBef>
                <a:spcPts val="0"/>
              </a:spcBef>
              <a:spcAft>
                <a:spcPts val="80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Literature Survey</a:t>
            </a:r>
            <a:endParaRPr sz="3200" b="0" i="0" u="none">
              <a:latin typeface="Arial" panose="020B0604020202020204"/>
              <a:ea typeface="Arial" panose="020B0604020202020204"/>
              <a:cs typeface="Arial" panose="020B0604020202020204"/>
            </a:endParaRPr>
          </a:p>
          <a:p>
            <a:pPr marL="457200" indent="-457200" algn="l">
              <a:lnSpc>
                <a:spcPct val="107000"/>
              </a:lnSpc>
              <a:spcBef>
                <a:spcPts val="0"/>
              </a:spcBef>
              <a:spcAft>
                <a:spcPts val="80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Problem Statement and Objectives</a:t>
            </a:r>
            <a:endParaRPr sz="3200" b="0" i="0" u="none">
              <a:latin typeface="Arial" panose="020B0604020202020204"/>
              <a:ea typeface="Arial" panose="020B0604020202020204"/>
              <a:cs typeface="Arial" panose="020B0604020202020204"/>
            </a:endParaRPr>
          </a:p>
          <a:p>
            <a:pPr marL="457200" indent="-457200" algn="l">
              <a:lnSpc>
                <a:spcPct val="107000"/>
              </a:lnSpc>
              <a:spcBef>
                <a:spcPts val="0"/>
              </a:spcBef>
              <a:spcAft>
                <a:spcPts val="80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Flow Chart</a:t>
            </a:r>
            <a:endParaRPr sz="3200" b="0" i="0" u="none">
              <a:latin typeface="Arial" panose="020B0604020202020204"/>
              <a:ea typeface="Arial" panose="020B0604020202020204"/>
              <a:cs typeface="Arial" panose="020B0604020202020204"/>
            </a:endParaRPr>
          </a:p>
          <a:p>
            <a:pPr marL="457200" indent="-457200" algn="l">
              <a:lnSpc>
                <a:spcPct val="107000"/>
              </a:lnSpc>
              <a:spcBef>
                <a:spcPts val="0"/>
              </a:spcBef>
              <a:spcAft>
                <a:spcPts val="80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Results</a:t>
            </a:r>
            <a:endParaRPr sz="3200" b="0" i="0" u="none">
              <a:latin typeface="Arial" panose="020B0604020202020204"/>
              <a:ea typeface="Arial" panose="020B0604020202020204"/>
              <a:cs typeface="Arial" panose="020B0604020202020204"/>
            </a:endParaRPr>
          </a:p>
          <a:p>
            <a:pPr marL="457200" indent="-457200" algn="l">
              <a:lnSpc>
                <a:spcPct val="107000"/>
              </a:lnSpc>
              <a:spcBef>
                <a:spcPts val="0"/>
              </a:spcBef>
              <a:spcAft>
                <a:spcPts val="80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Hardware and Software Requirements</a:t>
            </a:r>
            <a:endParaRPr sz="2400" b="0" i="0" u="none">
              <a:solidFill>
                <a:srgbClr val="222222"/>
              </a:solidFill>
              <a:latin typeface="Calibri" panose="020F0502020204030204"/>
              <a:ea typeface="Calibri" panose="020F0502020204030204"/>
              <a:cs typeface="Calibri" panose="020F0502020204030204"/>
            </a:endParaRPr>
          </a:p>
          <a:p>
            <a:pPr marL="457200" indent="-457200" algn="l">
              <a:lnSpc>
                <a:spcPct val="107000"/>
              </a:lnSpc>
              <a:spcBef>
                <a:spcPts val="0"/>
              </a:spcBef>
              <a:spcAft>
                <a:spcPts val="800"/>
              </a:spcAft>
              <a:buFont typeface="Arial" panose="020B0604020202020204"/>
              <a:buChar char="•"/>
              <a:defRPr sz="2400">
                <a:solidFill>
                  <a:srgbClr val="222222"/>
                </a:solidFill>
                <a:latin typeface="Calibri" panose="020F0502020204030204"/>
                <a:ea typeface="Calibri" panose="020F0502020204030204"/>
                <a:cs typeface="Calibri" panose="020F0502020204030204"/>
              </a:defRPr>
            </a:pPr>
            <a:r>
              <a:rPr sz="2400" b="0" i="0" u="none">
                <a:solidFill>
                  <a:srgbClr val="222222"/>
                </a:solidFill>
                <a:latin typeface="Calibri" panose="020F0502020204030204"/>
                <a:ea typeface="Calibri" panose="020F0502020204030204"/>
                <a:cs typeface="Calibri" panose="020F0502020204030204"/>
              </a:rPr>
              <a:t>Conclusion</a:t>
            </a:r>
            <a:endParaRPr sz="3200" b="0" i="0" u="none">
              <a:latin typeface="Arial" panose="020B0604020202020204"/>
              <a:ea typeface="Arial" panose="020B0604020202020204"/>
              <a:cs typeface="Arial" panose="020B0604020202020204"/>
            </a:endParaRPr>
          </a:p>
          <a:p>
            <a:pPr>
              <a:defRPr sz="2400">
                <a:solidFill>
                  <a:srgbClr val="222222"/>
                </a:solidFill>
                <a:latin typeface="Calibri" panose="020F0502020204030204"/>
                <a:ea typeface="Calibri" panose="020F0502020204030204"/>
                <a:cs typeface="Calibri" panose="020F0502020204030204"/>
              </a:defRPr>
            </a:pPr>
            <a:r>
              <a:rPr sz="2400">
                <a:solidFill>
                  <a:srgbClr val="222222"/>
                </a:solidFill>
                <a:latin typeface="Calibri" panose="020F0502020204030204"/>
                <a:ea typeface="Calibri" panose="020F0502020204030204"/>
                <a:cs typeface="Calibri" panose="020F0502020204030204"/>
              </a:rPr>
              <a:t>Future Scope</a:t>
            </a:r>
            <a:endParaRPr sz="2400">
              <a:solidFill>
                <a:srgbClr val="222222"/>
              </a:solidFill>
              <a:latin typeface="Calibri" panose="020F0502020204030204"/>
              <a:ea typeface="Calibri" panose="020F0502020204030204"/>
              <a:cs typeface="Calibri" panose="020F0502020204030204"/>
            </a:endParaRPr>
          </a:p>
        </p:txBody>
      </p:sp>
      <p:sp>
        <p:nvSpPr>
          <p:cNvPr id="8" name="Rectangle: Rounded Corners 7"/>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9" name="TextBox 8"/>
          <p:cNvSpPr>
            <a:spLocks noGrp="1"/>
          </p:cNvSpPr>
          <p:nvPr/>
        </p:nvSpPr>
        <p:spPr>
          <a:xfrm>
            <a:off x="2660072" y="221673"/>
            <a:ext cx="6871855" cy="584775"/>
          </a:xfrm>
          <a:prstGeom prst="rect">
            <a:avLst/>
          </a:prstGeom>
          <a:noFill/>
        </p:spPr>
        <p:txBody>
          <a:bodyPr wrap="square">
            <a:spAutoFit/>
          </a:bodyPr>
          <a:lstStyle/>
          <a:p>
            <a:pPr algn="ctr">
              <a:buNone/>
            </a:pPr>
            <a:r>
              <a:rPr sz="3200" b="1">
                <a:solidFill>
                  <a:schemeClr val="bg1"/>
                </a:solidFill>
              </a:rPr>
              <a:t>Contents</a:t>
            </a:r>
            <a:endParaRPr sz="3200" b="1">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 name="TextBox 1"/>
          <p:cNvSpPr>
            <a:spLocks noGrp="1"/>
          </p:cNvSpPr>
          <p:nvPr/>
        </p:nvSpPr>
        <p:spPr>
          <a:xfrm>
            <a:off x="2660072" y="221673"/>
            <a:ext cx="6871855" cy="584775"/>
          </a:xfrm>
          <a:prstGeom prst="rect">
            <a:avLst/>
          </a:prstGeom>
          <a:noFill/>
        </p:spPr>
        <p:txBody>
          <a:bodyPr wrap="square">
            <a:spAutoFit/>
          </a:bodyPr>
          <a:lstStyle/>
          <a:p>
            <a:pPr algn="ctr">
              <a:buNone/>
            </a:pPr>
            <a:r>
              <a:rPr sz="3200" b="1">
                <a:solidFill>
                  <a:schemeClr val="bg1"/>
                </a:solidFill>
              </a:rPr>
              <a:t>Abstract</a:t>
            </a:r>
            <a:endParaRPr sz="3200" b="1">
              <a:solidFill>
                <a:schemeClr val="bg1"/>
              </a:solidFill>
            </a:endParaRPr>
          </a:p>
        </p:txBody>
      </p:sp>
      <p:sp>
        <p:nvSpPr>
          <p:cNvPr id="4" name="Rectangles 3"/>
          <p:cNvSpPr>
            <a:spLocks noGrp="1"/>
          </p:cNvSpPr>
          <p:nvPr/>
        </p:nvSpPr>
        <p:spPr>
          <a:xfrm>
            <a:off x="3000375" y="13811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The application finds every occurrence of an exact pattern in manual text or multiple uploaded files.</a:t>
            </a:r>
            <a:endParaRPr sz="2175" b="0">
              <a:solidFill>
                <a:srgbClr val="222222"/>
              </a:solidFill>
              <a:latin typeface="Calibri" panose="020F0502020204030204"/>
              <a:ea typeface="Calibri" panose="020F0502020204030204"/>
              <a:cs typeface="Calibri" panose="020F0502020204030204"/>
            </a:endParaRPr>
          </a:p>
        </p:txBody>
      </p:sp>
      <p:sp>
        <p:nvSpPr>
          <p:cNvPr id="5" name="Rectangles 4"/>
          <p:cNvSpPr>
            <a:spLocks noGrp="1"/>
          </p:cNvSpPr>
          <p:nvPr/>
        </p:nvSpPr>
        <p:spPr>
          <a:xfrm>
            <a:off x="3000375" y="24288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KMP preprocesses the pattern into an LPS table and reuses matched prefixes after a mismatch.</a:t>
            </a: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The matching core takes O(N + M) time and O(M) auxiliary space, excluding stored results.</a:t>
            </a: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A Java backend returns match positions to a browser dashboard. Sources with no matches can be edited and downloaded.</a:t>
            </a: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5762625"/>
            <a:ext cx="8429625" cy="381000"/>
          </a:xfrm>
          <a:prstGeom prst="rect">
            <a:avLst/>
          </a:prstGeom>
          <a:noFill/>
          <a:ln w="0">
            <a:noFill/>
          </a:ln>
        </p:spPr>
        <p:txBody>
          <a:bodyPr>
            <a:noAutofit/>
          </a:bodyPr>
          <a:lstStyle/>
          <a:p>
            <a:pPr>
              <a:defRPr sz="1725" b="0">
                <a:solidFill>
                  <a:srgbClr val="555555"/>
                </a:solidFill>
                <a:latin typeface="Calibri" panose="020F0502020204030204"/>
                <a:ea typeface="Calibri" panose="020F0502020204030204"/>
                <a:cs typeface="Calibri" panose="020F0502020204030204"/>
              </a:defRPr>
            </a:pPr>
            <a:r>
              <a:rPr sz="1725" b="0">
                <a:solidFill>
                  <a:srgbClr val="555555"/>
                </a:solidFill>
                <a:latin typeface="Calibri" panose="020F0502020204030204"/>
                <a:ea typeface="Calibri" panose="020F0502020204030204"/>
                <a:cs typeface="Calibri" panose="020F0502020204030204"/>
              </a:rPr>
              <a:t>N = total text length across files. M = pattern length.</a:t>
            </a:r>
            <a:endParaRPr sz="1725" b="0">
              <a:solidFill>
                <a:srgbClr val="555555"/>
              </a:solidFill>
              <a:latin typeface="Calibri" panose="020F0502020204030204"/>
              <a:ea typeface="Calibri" panose="020F0502020204030204"/>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TextBox 2"/>
          <p:cNvSpPr>
            <a:spLocks noGrp="1"/>
          </p:cNvSpPr>
          <p:nvPr/>
        </p:nvSpPr>
        <p:spPr>
          <a:xfrm>
            <a:off x="2660072" y="193965"/>
            <a:ext cx="6871855" cy="584775"/>
          </a:xfrm>
          <a:prstGeom prst="rect">
            <a:avLst/>
          </a:prstGeom>
          <a:noFill/>
        </p:spPr>
        <p:txBody>
          <a:bodyPr wrap="square">
            <a:spAutoFit/>
          </a:bodyPr>
          <a:lstStyle/>
          <a:p>
            <a:pPr algn="ctr">
              <a:buNone/>
            </a:pPr>
            <a:r>
              <a:rPr sz="3200" b="1">
                <a:solidFill>
                  <a:schemeClr val="bg1"/>
                </a:solidFill>
              </a:rPr>
              <a:t>Introduction</a:t>
            </a:r>
            <a:endParaRPr sz="3200" b="1">
              <a:solidFill>
                <a:schemeClr val="bg1"/>
              </a:solidFill>
            </a:endParaRPr>
          </a:p>
        </p:txBody>
      </p:sp>
      <p:sp>
        <p:nvSpPr>
          <p:cNvPr id="4" name="Rectangles 3"/>
          <p:cNvSpPr>
            <a:spLocks noGrp="1"/>
          </p:cNvSpPr>
          <p:nvPr/>
        </p:nvSpPr>
        <p:spPr>
          <a:xfrm>
            <a:off x="3000375" y="13811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Exact pattern matching supports document search, log analysis and inspection of text datasets.</a:t>
            </a:r>
            <a:endParaRPr sz="2175" b="0">
              <a:solidFill>
                <a:srgbClr val="222222"/>
              </a:solidFill>
              <a:latin typeface="Calibri" panose="020F0502020204030204"/>
              <a:ea typeface="Calibri" panose="020F0502020204030204"/>
              <a:cs typeface="Calibri" panose="020F0502020204030204"/>
            </a:endParaRPr>
          </a:p>
        </p:txBody>
      </p:sp>
      <p:sp>
        <p:nvSpPr>
          <p:cNvPr id="5" name="Rectangles 4"/>
          <p:cNvSpPr>
            <a:spLocks noGrp="1"/>
          </p:cNvSpPr>
          <p:nvPr/>
        </p:nvSpPr>
        <p:spPr>
          <a:xfrm>
            <a:off x="3000375" y="24288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A naive search may compare the same characters repeatedly, giving O(NM) worst-case time.</a:t>
            </a: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KMP keeps the text index moving forward and uses a prefix table to adjust the pattern index.</a:t>
            </a: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Example: ABA occurs in ABABA at indices 0 and 2 when overlapping matches are enabled.</a:t>
            </a: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5762625"/>
            <a:ext cx="8382000" cy="428625"/>
          </a:xfrm>
          <a:prstGeom prst="rect">
            <a:avLst/>
          </a:prstGeom>
          <a:noFill/>
          <a:ln w="0">
            <a:noFill/>
          </a:ln>
        </p:spPr>
        <p:txBody>
          <a:bodyPr>
            <a:noAutofit/>
          </a:bodyPr>
          <a:lstStyle/>
          <a:p>
            <a:pPr>
              <a:defRPr sz="1875" b="0">
                <a:solidFill>
                  <a:srgbClr val="0070C0"/>
                </a:solidFill>
                <a:latin typeface="Calibri" panose="020F0502020204030204"/>
                <a:ea typeface="Calibri" panose="020F0502020204030204"/>
                <a:cs typeface="Calibri" panose="020F0502020204030204"/>
              </a:defRPr>
            </a:pPr>
            <a:r>
              <a:rPr sz="1875" b="0">
                <a:solidFill>
                  <a:srgbClr val="0070C0"/>
                </a:solidFill>
                <a:latin typeface="Calibri" panose="020F0502020204030204"/>
                <a:ea typeface="Calibri" panose="020F0502020204030204"/>
                <a:cs typeface="Calibri" panose="020F0502020204030204"/>
              </a:rPr>
              <a:t>LPS for ABA: [0, 0, 1]. Indices start at 0.</a:t>
            </a:r>
            <a:endParaRPr sz="1875" b="0">
              <a:solidFill>
                <a:srgbClr val="0070C0"/>
              </a:solidFill>
              <a:latin typeface="Calibri" panose="020F0502020204030204"/>
              <a:ea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TextBox 2"/>
          <p:cNvSpPr>
            <a:spLocks noGrp="1"/>
          </p:cNvSpPr>
          <p:nvPr/>
        </p:nvSpPr>
        <p:spPr>
          <a:xfrm>
            <a:off x="2660072" y="193965"/>
            <a:ext cx="6871855" cy="584775"/>
          </a:xfrm>
          <a:prstGeom prst="rect">
            <a:avLst/>
          </a:prstGeom>
          <a:noFill/>
        </p:spPr>
        <p:txBody>
          <a:bodyPr wrap="square">
            <a:spAutoFit/>
          </a:bodyPr>
          <a:lstStyle/>
          <a:p>
            <a:pPr algn="ctr">
              <a:buNone/>
            </a:pPr>
            <a:r>
              <a:rPr sz="3200" b="1">
                <a:solidFill>
                  <a:schemeClr val="bg1"/>
                </a:solidFill>
              </a:rPr>
              <a:t>Literature Survey</a:t>
            </a:r>
            <a:endParaRPr sz="3200" b="1">
              <a:solidFill>
                <a:schemeClr val="bg1"/>
              </a:solidFill>
            </a:endParaRPr>
          </a:p>
        </p:txBody>
      </p:sp>
      <p:sp>
        <p:nvSpPr>
          <p:cNvPr id="4" name="Rectangles 3"/>
          <p:cNvSpPr>
            <a:spLocks noGrp="1"/>
          </p:cNvSpPr>
          <p:nvPr/>
        </p:nvSpPr>
        <p:spPr>
          <a:xfrm>
            <a:off x="3000375" y="13811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Naive search checks the pattern at each possible position. It is simple but can repeat O(NM) comparisons.</a:t>
            </a:r>
            <a:endParaRPr sz="2175" b="0">
              <a:solidFill>
                <a:srgbClr val="222222"/>
              </a:solidFill>
              <a:latin typeface="Calibri" panose="020F0502020204030204"/>
              <a:ea typeface="Calibri" panose="020F0502020204030204"/>
              <a:cs typeface="Calibri" panose="020F0502020204030204"/>
            </a:endParaRPr>
          </a:p>
        </p:txBody>
      </p:sp>
      <p:sp>
        <p:nvSpPr>
          <p:cNvPr id="5" name="Rectangles 4"/>
          <p:cNvSpPr>
            <a:spLocks noGrp="1"/>
          </p:cNvSpPr>
          <p:nvPr/>
        </p:nvSpPr>
        <p:spPr>
          <a:xfrm>
            <a:off x="3000375" y="24288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Knuth, Morris and Pratt (1977) introduced a linear-time string matching method that reuses previous comparisons.</a:t>
            </a: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Boyer–Moore uses mismatch-based shifts. Rabin–Karp uses rolling hashes and verifies candidate matches.</a:t>
            </a: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KMP suits this project because its prefix table explains the search process and guarantees linear core matching time.</a:t>
            </a: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5905500"/>
            <a:ext cx="8477250" cy="476250"/>
          </a:xfrm>
          <a:prstGeom prst="rect">
            <a:avLst/>
          </a:prstGeom>
          <a:noFill/>
          <a:ln w="0">
            <a:noFill/>
          </a:ln>
        </p:spPr>
        <p:txBody>
          <a:bodyPr>
            <a:noAutofit/>
          </a:bodyPr>
          <a:lstStyle/>
          <a:p>
            <a:pPr>
              <a:defRPr sz="1500" b="0">
                <a:solidFill>
                  <a:srgbClr val="555555"/>
                </a:solidFill>
                <a:latin typeface="Calibri" panose="020F0502020204030204"/>
                <a:ea typeface="Calibri" panose="020F0502020204030204"/>
                <a:cs typeface="Calibri" panose="020F0502020204030204"/>
              </a:defRPr>
            </a:pPr>
            <a:r>
              <a:rPr sz="1500" b="0">
                <a:solidFill>
                  <a:srgbClr val="555555"/>
                </a:solidFill>
                <a:latin typeface="Calibri" panose="020F0502020204030204"/>
                <a:ea typeface="Calibri" panose="020F0502020204030204"/>
                <a:cs typeface="Calibri" panose="020F0502020204030204"/>
              </a:rPr>
              <a:t>References: Knuth et al., SIAM J. Comput. 6(2), 1977. Sedgewick &amp; Wayne, Algorithms, §5.3.</a:t>
            </a:r>
            <a:endParaRPr sz="1500" b="0">
              <a:solidFill>
                <a:srgbClr val="555555"/>
              </a:solidFill>
              <a:latin typeface="Calibri" panose="020F0502020204030204"/>
              <a:ea typeface="Calibri" panose="020F0502020204030204"/>
              <a:cs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 name="TextBox 1"/>
          <p:cNvSpPr>
            <a:spLocks noGrp="1"/>
          </p:cNvSpPr>
          <p:nvPr/>
        </p:nvSpPr>
        <p:spPr>
          <a:xfrm>
            <a:off x="2660072" y="292694"/>
            <a:ext cx="6871855" cy="584775"/>
          </a:xfrm>
          <a:prstGeom prst="rect">
            <a:avLst/>
          </a:prstGeom>
          <a:noFill/>
        </p:spPr>
        <p:txBody>
          <a:bodyPr wrap="square">
            <a:spAutoFit/>
          </a:bodyPr>
          <a:lstStyle/>
          <a:p>
            <a:pPr algn="ctr">
              <a:buNone/>
            </a:pPr>
            <a:r>
              <a:rPr sz="3200" b="1">
                <a:solidFill>
                  <a:schemeClr val="bg1"/>
                </a:solidFill>
              </a:rPr>
              <a:t>Problem Statement and Objectives</a:t>
            </a:r>
            <a:endParaRPr sz="3200" b="1">
              <a:solidFill>
                <a:schemeClr val="bg1"/>
              </a:solidFill>
            </a:endParaRPr>
          </a:p>
        </p:txBody>
      </p:sp>
      <p:sp>
        <p:nvSpPr>
          <p:cNvPr id="4" name="Rectangles 3"/>
          <p:cNvSpPr>
            <a:spLocks noGrp="1"/>
          </p:cNvSpPr>
          <p:nvPr/>
        </p:nvSpPr>
        <p:spPr>
          <a:xfrm>
            <a:off x="3000375" y="1285875"/>
            <a:ext cx="8572500" cy="381000"/>
          </a:xfrm>
          <a:prstGeom prst="rect">
            <a:avLst/>
          </a:prstGeom>
          <a:noFill/>
          <a:ln w="0">
            <a:noFill/>
          </a:ln>
        </p:spPr>
        <p:txBody>
          <a:bodyPr>
            <a:noAutofit/>
          </a:bodyPr>
          <a:lstStyle/>
          <a:p>
            <a:pPr>
              <a:defRPr sz="2250" b="1">
                <a:solidFill>
                  <a:srgbClr val="C00000"/>
                </a:solidFill>
                <a:latin typeface="Calibri" panose="020F0502020204030204"/>
                <a:ea typeface="Calibri" panose="020F0502020204030204"/>
                <a:cs typeface="Calibri" panose="020F0502020204030204"/>
              </a:defRPr>
            </a:pPr>
            <a:r>
              <a:rPr sz="2250" b="1">
                <a:solidFill>
                  <a:srgbClr val="C00000"/>
                </a:solidFill>
                <a:latin typeface="Calibri" panose="020F0502020204030204"/>
                <a:ea typeface="Calibri" panose="020F0502020204030204"/>
                <a:cs typeface="Calibri" panose="020F0502020204030204"/>
              </a:rPr>
              <a:t>Problem statement</a:t>
            </a:r>
            <a:endParaRPr sz="2250" b="1">
              <a:solidFill>
                <a:srgbClr val="C00000"/>
              </a:solidFill>
              <a:latin typeface="Calibri" panose="020F0502020204030204"/>
              <a:ea typeface="Calibri" panose="020F0502020204030204"/>
              <a:cs typeface="Calibri" panose="020F0502020204030204"/>
            </a:endParaRPr>
          </a:p>
        </p:txBody>
      </p:sp>
      <p:sp>
        <p:nvSpPr>
          <p:cNvPr id="5" name="Rectangles 4"/>
          <p:cNvSpPr>
            <a:spLocks noGrp="1"/>
          </p:cNvSpPr>
          <p:nvPr/>
        </p:nvSpPr>
        <p:spPr>
          <a:xfrm>
            <a:off x="3000375" y="1809750"/>
            <a:ext cx="8429625" cy="128587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Implement a high-performance text searching application using KMP. Construct a prefix table and locate all occurrences in large text files while avoiding unnecessary character comparisons.</a:t>
            </a: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3238500"/>
            <a:ext cx="8382000" cy="428625"/>
          </a:xfrm>
          <a:prstGeom prst="rect">
            <a:avLst/>
          </a:prstGeom>
          <a:noFill/>
          <a:ln w="0">
            <a:noFill/>
          </a:ln>
        </p:spPr>
        <p:txBody>
          <a:bodyPr>
            <a:noAutofit/>
          </a:bodyPr>
          <a:lstStyle/>
          <a:p>
            <a:pPr>
              <a:defRPr sz="2250" b="1">
                <a:solidFill>
                  <a:srgbClr val="C00000"/>
                </a:solidFill>
                <a:latin typeface="Calibri" panose="020F0502020204030204"/>
                <a:ea typeface="Calibri" panose="020F0502020204030204"/>
                <a:cs typeface="Calibri" panose="020F0502020204030204"/>
              </a:defRPr>
            </a:pPr>
            <a:r>
              <a:rPr sz="2250" b="1">
                <a:solidFill>
                  <a:srgbClr val="C00000"/>
                </a:solidFill>
                <a:latin typeface="Calibri" panose="020F0502020204030204"/>
                <a:ea typeface="Calibri" panose="020F0502020204030204"/>
                <a:cs typeface="Calibri" panose="020F0502020204030204"/>
              </a:rPr>
              <a:t>Objectives</a:t>
            </a:r>
            <a:endParaRPr sz="2250" b="1">
              <a:solidFill>
                <a:srgbClr val="C00000"/>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3857625"/>
            <a:ext cx="8382000" cy="219075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1. Achieve O(N + M) time for the matching core.</a:t>
            </a:r>
            <a:endParaRPr sz="2175" b="0">
              <a:solidFill>
                <a:srgbClr val="222222"/>
              </a:solidFill>
              <a:latin typeface="Calibri" panose="020F0502020204030204"/>
              <a:ea typeface="Calibri" panose="020F0502020204030204"/>
              <a:cs typeface="Calibri" panose="020F0502020204030204"/>
            </a:endParaRPr>
          </a:p>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2. Search multiple text files independently.</a:t>
            </a:r>
            <a:endParaRPr sz="2175" b="0">
              <a:solidFill>
                <a:srgbClr val="222222"/>
              </a:solidFill>
              <a:latin typeface="Calibri" panose="020F0502020204030204"/>
              <a:ea typeface="Calibri" panose="020F0502020204030204"/>
              <a:cs typeface="Calibri" panose="020F0502020204030204"/>
            </a:endParaRPr>
          </a:p>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3. Visualize matches with index, line and column.</a:t>
            </a:r>
            <a:endParaRPr sz="2175" b="0">
              <a:solidFill>
                <a:srgbClr val="222222"/>
              </a:solidFill>
              <a:latin typeface="Calibri" panose="020F0502020204030204"/>
              <a:ea typeface="Calibri" panose="020F0502020204030204"/>
              <a:cs typeface="Calibri" panose="020F0502020204030204"/>
            </a:endParaRPr>
          </a:p>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4. Demonstrate exact matching and prefix-table reuse.</a:t>
            </a:r>
            <a:endParaRPr sz="2175" b="0">
              <a:solidFill>
                <a:srgbClr val="222222"/>
              </a:solidFill>
              <a:latin typeface="Calibri" panose="020F0502020204030204"/>
              <a:ea typeface="Calibri" panose="020F0502020204030204"/>
              <a:cs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TextBox 2"/>
          <p:cNvSpPr>
            <a:spLocks noGrp="1"/>
          </p:cNvSpPr>
          <p:nvPr/>
        </p:nvSpPr>
        <p:spPr>
          <a:xfrm>
            <a:off x="2660072" y="193965"/>
            <a:ext cx="6871855" cy="583565"/>
          </a:xfrm>
          <a:prstGeom prst="rect">
            <a:avLst/>
          </a:prstGeom>
          <a:noFill/>
        </p:spPr>
        <p:txBody>
          <a:bodyPr wrap="square">
            <a:spAutoFit/>
          </a:bodyPr>
          <a:lstStyle/>
          <a:p>
            <a:pPr algn="ctr">
              <a:buNone/>
            </a:pPr>
            <a:r>
              <a:rPr lang="en-IN" sz="3200" b="1">
                <a:solidFill>
                  <a:schemeClr val="bg1"/>
                </a:solidFill>
              </a:rPr>
              <a:t>Work Flow</a:t>
            </a:r>
            <a:endParaRPr lang="en-IN" sz="3200" b="1">
              <a:solidFill>
                <a:schemeClr val="bg1"/>
              </a:solidFill>
            </a:endParaRPr>
          </a:p>
        </p:txBody>
      </p:sp>
      <p:sp>
        <p:nvSpPr>
          <p:cNvPr id="4" name="Rounded Rectangle 3"/>
          <p:cNvSpPr>
            <a:spLocks noGrp="1"/>
          </p:cNvSpPr>
          <p:nvPr/>
        </p:nvSpPr>
        <p:spPr>
          <a:xfrm>
            <a:off x="3476625" y="1238250"/>
            <a:ext cx="7524750" cy="685800"/>
          </a:xfrm>
          <a:prstGeom prst="roundRect">
            <a:avLst>
              <a:gd name="adj" fmla="val 11111"/>
            </a:avLst>
          </a:prstGeom>
          <a:solidFill>
            <a:srgbClr val="FFFFFF"/>
          </a:solidFill>
          <a:ln w="14288">
            <a:solidFill>
              <a:srgbClr val="C00000"/>
            </a:solidFill>
          </a:ln>
        </p:spPr>
        <p:txBody>
          <a:bodyPr anchor="ctr"/>
          <a:lstStyle/>
          <a:p>
            <a:pPr algn="ctr">
              <a:defRPr sz="2025">
                <a:solidFill>
                  <a:srgbClr val="222222"/>
                </a:solidFill>
                <a:latin typeface="Calibri" panose="020F0502020204030204"/>
                <a:ea typeface="Calibri" panose="020F0502020204030204"/>
                <a:cs typeface="Calibri" panose="020F0502020204030204"/>
              </a:defRPr>
            </a:pPr>
            <a:r>
              <a:rPr sz="2025">
                <a:solidFill>
                  <a:srgbClr val="222222"/>
                </a:solidFill>
                <a:latin typeface="Calibri" panose="020F0502020204030204"/>
                <a:ea typeface="Calibri" panose="020F0502020204030204"/>
                <a:cs typeface="Calibri" panose="020F0502020204030204"/>
              </a:rPr>
              <a:t>Input files, pattern and options</a:t>
            </a:r>
            <a:endParaRPr sz="2025">
              <a:solidFill>
                <a:srgbClr val="222222"/>
              </a:solidFill>
              <a:latin typeface="Calibri" panose="020F0502020204030204"/>
              <a:ea typeface="Calibri" panose="020F0502020204030204"/>
              <a:cs typeface="Calibri" panose="020F0502020204030204"/>
            </a:endParaRPr>
          </a:p>
        </p:txBody>
      </p:sp>
      <p:sp>
        <p:nvSpPr>
          <p:cNvPr id="5" name="Rounded Rectangle 4"/>
          <p:cNvSpPr>
            <a:spLocks noGrp="1"/>
          </p:cNvSpPr>
          <p:nvPr/>
        </p:nvSpPr>
        <p:spPr>
          <a:xfrm>
            <a:off x="3476625" y="2238375"/>
            <a:ext cx="7524750" cy="685800"/>
          </a:xfrm>
          <a:prstGeom prst="roundRect">
            <a:avLst>
              <a:gd name="adj" fmla="val 11111"/>
            </a:avLst>
          </a:prstGeom>
          <a:solidFill>
            <a:srgbClr val="FFFFFF"/>
          </a:solidFill>
          <a:ln w="14288">
            <a:solidFill>
              <a:srgbClr val="C00000"/>
            </a:solidFill>
          </a:ln>
        </p:spPr>
        <p:txBody>
          <a:bodyPr anchor="ctr"/>
          <a:lstStyle/>
          <a:p>
            <a:pPr algn="ctr">
              <a:defRPr sz="2025">
                <a:solidFill>
                  <a:srgbClr val="222222"/>
                </a:solidFill>
                <a:latin typeface="Calibri" panose="020F0502020204030204"/>
                <a:ea typeface="Calibri" panose="020F0502020204030204"/>
                <a:cs typeface="Calibri" panose="020F0502020204030204"/>
              </a:defRPr>
            </a:pPr>
            <a:r>
              <a:rPr sz="2025">
                <a:solidFill>
                  <a:srgbClr val="222222"/>
                </a:solidFill>
                <a:latin typeface="Calibri" panose="020F0502020204030204"/>
                <a:ea typeface="Calibri" panose="020F0502020204030204"/>
                <a:cs typeface="Calibri" panose="020F0502020204030204"/>
              </a:rPr>
              <a:t>Validate input and construct LPS</a:t>
            </a:r>
            <a:endParaRPr sz="2025">
              <a:solidFill>
                <a:srgbClr val="222222"/>
              </a:solidFill>
              <a:latin typeface="Calibri" panose="020F0502020204030204"/>
              <a:ea typeface="Calibri" panose="020F0502020204030204"/>
              <a:cs typeface="Calibri" panose="020F0502020204030204"/>
            </a:endParaRPr>
          </a:p>
        </p:txBody>
      </p:sp>
      <p:cxnSp>
        <p:nvCxnSpPr>
          <p:cNvPr id="17" name="Straight Arrow Connector 16"/>
          <p:cNvCxnSpPr>
            <a:stCxn id="4" idx="2"/>
            <a:endCxn id="5" idx="0"/>
          </p:cNvCxnSpPr>
          <p:nvPr/>
        </p:nvCxnSpPr>
        <p:spPr>
          <a:xfrm>
            <a:off x="7239000" y="1924050"/>
            <a:ext cx="0" cy="314325"/>
          </a:xfrm>
          <a:prstGeom prst="straightConnector1">
            <a:avLst/>
          </a:prstGeom>
          <a:ln w="19050">
            <a:solidFill>
              <a:srgbClr val="C00000"/>
            </a:solidFill>
            <a:tailEnd type="triangle" w="sm" len="sm"/>
          </a:ln>
        </p:spPr>
      </p:cxnSp>
      <p:sp>
        <p:nvSpPr>
          <p:cNvPr id="7" name="Rounded Rectangle 6"/>
          <p:cNvSpPr>
            <a:spLocks noGrp="1"/>
          </p:cNvSpPr>
          <p:nvPr/>
        </p:nvSpPr>
        <p:spPr>
          <a:xfrm>
            <a:off x="3476625" y="3238500"/>
            <a:ext cx="7524750" cy="685800"/>
          </a:xfrm>
          <a:prstGeom prst="roundRect">
            <a:avLst>
              <a:gd name="adj" fmla="val 11111"/>
            </a:avLst>
          </a:prstGeom>
          <a:solidFill>
            <a:srgbClr val="FFFFFF"/>
          </a:solidFill>
          <a:ln w="14288">
            <a:solidFill>
              <a:srgbClr val="C00000"/>
            </a:solidFill>
          </a:ln>
        </p:spPr>
        <p:txBody>
          <a:bodyPr anchor="ctr"/>
          <a:lstStyle/>
          <a:p>
            <a:pPr algn="ctr">
              <a:defRPr sz="2025">
                <a:solidFill>
                  <a:srgbClr val="222222"/>
                </a:solidFill>
                <a:latin typeface="Calibri" panose="020F0502020204030204"/>
                <a:ea typeface="Calibri" panose="020F0502020204030204"/>
                <a:cs typeface="Calibri" panose="020F0502020204030204"/>
              </a:defRPr>
            </a:pPr>
            <a:r>
              <a:rPr sz="2025">
                <a:solidFill>
                  <a:srgbClr val="222222"/>
                </a:solidFill>
                <a:latin typeface="Calibri" panose="020F0502020204030204"/>
                <a:ea typeface="Calibri" panose="020F0502020204030204"/>
                <a:cs typeface="Calibri" panose="020F0502020204030204"/>
              </a:rPr>
              <a:t>Run KMP for each source</a:t>
            </a:r>
            <a:endParaRPr sz="2025">
              <a:solidFill>
                <a:srgbClr val="222222"/>
              </a:solidFill>
              <a:latin typeface="Calibri" panose="020F0502020204030204"/>
              <a:ea typeface="Calibri" panose="020F0502020204030204"/>
              <a:cs typeface="Calibri" panose="020F0502020204030204"/>
            </a:endParaRPr>
          </a:p>
        </p:txBody>
      </p:sp>
      <p:cxnSp>
        <p:nvCxnSpPr>
          <p:cNvPr id="19" name="Straight Arrow Connector 18"/>
          <p:cNvCxnSpPr>
            <a:stCxn id="5" idx="2"/>
            <a:endCxn id="7" idx="0"/>
          </p:cNvCxnSpPr>
          <p:nvPr/>
        </p:nvCxnSpPr>
        <p:spPr>
          <a:xfrm>
            <a:off x="7239000" y="2924175"/>
            <a:ext cx="0" cy="314325"/>
          </a:xfrm>
          <a:prstGeom prst="straightConnector1">
            <a:avLst/>
          </a:prstGeom>
          <a:ln w="19050">
            <a:solidFill>
              <a:srgbClr val="C00000"/>
            </a:solidFill>
            <a:tailEnd type="triangle" w="sm" len="sm"/>
          </a:ln>
        </p:spPr>
      </p:cxnSp>
      <p:sp>
        <p:nvSpPr>
          <p:cNvPr id="9" name="Rounded Rectangle 8"/>
          <p:cNvSpPr>
            <a:spLocks noGrp="1"/>
          </p:cNvSpPr>
          <p:nvPr/>
        </p:nvSpPr>
        <p:spPr>
          <a:xfrm>
            <a:off x="3476625" y="4238625"/>
            <a:ext cx="7524750" cy="685800"/>
          </a:xfrm>
          <a:prstGeom prst="roundRect">
            <a:avLst>
              <a:gd name="adj" fmla="val 11111"/>
            </a:avLst>
          </a:prstGeom>
          <a:solidFill>
            <a:srgbClr val="FFFFFF"/>
          </a:solidFill>
          <a:ln w="14288">
            <a:solidFill>
              <a:srgbClr val="C00000"/>
            </a:solidFill>
          </a:ln>
        </p:spPr>
        <p:txBody>
          <a:bodyPr anchor="ctr"/>
          <a:lstStyle/>
          <a:p>
            <a:pPr algn="ctr">
              <a:defRPr sz="2025">
                <a:solidFill>
                  <a:srgbClr val="222222"/>
                </a:solidFill>
                <a:latin typeface="Calibri" panose="020F0502020204030204"/>
                <a:ea typeface="Calibri" panose="020F0502020204030204"/>
                <a:cs typeface="Calibri" panose="020F0502020204030204"/>
              </a:defRPr>
            </a:pPr>
            <a:r>
              <a:rPr sz="2025">
                <a:solidFill>
                  <a:srgbClr val="222222"/>
                </a:solidFill>
                <a:latin typeface="Calibri" panose="020F0502020204030204"/>
                <a:ea typeface="Calibri" panose="020F0502020204030204"/>
                <a:cs typeface="Calibri" panose="020F0502020204030204"/>
              </a:rPr>
              <a:t>Collect matches and display positions</a:t>
            </a:r>
            <a:endParaRPr sz="2025">
              <a:solidFill>
                <a:srgbClr val="222222"/>
              </a:solidFill>
              <a:latin typeface="Calibri" panose="020F0502020204030204"/>
              <a:ea typeface="Calibri" panose="020F0502020204030204"/>
              <a:cs typeface="Calibri" panose="020F0502020204030204"/>
            </a:endParaRPr>
          </a:p>
        </p:txBody>
      </p:sp>
      <p:cxnSp>
        <p:nvCxnSpPr>
          <p:cNvPr id="21" name="Straight Arrow Connector 20"/>
          <p:cNvCxnSpPr>
            <a:stCxn id="7" idx="2"/>
            <a:endCxn id="9" idx="0"/>
          </p:cNvCxnSpPr>
          <p:nvPr/>
        </p:nvCxnSpPr>
        <p:spPr>
          <a:xfrm>
            <a:off x="7239000" y="3924300"/>
            <a:ext cx="0" cy="314325"/>
          </a:xfrm>
          <a:prstGeom prst="straightConnector1">
            <a:avLst/>
          </a:prstGeom>
          <a:ln w="19050">
            <a:solidFill>
              <a:srgbClr val="C00000"/>
            </a:solidFill>
            <a:tailEnd type="triangle" w="sm" len="sm"/>
          </a:ln>
        </p:spPr>
      </p:cxnSp>
      <p:sp>
        <p:nvSpPr>
          <p:cNvPr id="11" name="Rounded Rectangle 10"/>
          <p:cNvSpPr>
            <a:spLocks noGrp="1"/>
          </p:cNvSpPr>
          <p:nvPr/>
        </p:nvSpPr>
        <p:spPr>
          <a:xfrm>
            <a:off x="3476625" y="5238750"/>
            <a:ext cx="7524750" cy="685800"/>
          </a:xfrm>
          <a:prstGeom prst="roundRect">
            <a:avLst>
              <a:gd name="adj" fmla="val 11111"/>
            </a:avLst>
          </a:prstGeom>
          <a:solidFill>
            <a:srgbClr val="FFFFFF"/>
          </a:solidFill>
          <a:ln w="14288">
            <a:solidFill>
              <a:srgbClr val="C00000"/>
            </a:solidFill>
          </a:ln>
        </p:spPr>
        <p:txBody>
          <a:bodyPr anchor="ctr"/>
          <a:lstStyle/>
          <a:p>
            <a:pPr algn="ctr">
              <a:defRPr sz="2025">
                <a:solidFill>
                  <a:srgbClr val="222222"/>
                </a:solidFill>
                <a:latin typeface="Calibri" panose="020F0502020204030204"/>
                <a:ea typeface="Calibri" panose="020F0502020204030204"/>
                <a:cs typeface="Calibri" panose="020F0502020204030204"/>
              </a:defRPr>
            </a:pPr>
            <a:r>
              <a:rPr sz="2025">
                <a:solidFill>
                  <a:srgbClr val="222222"/>
                </a:solidFill>
                <a:latin typeface="Calibri" panose="020F0502020204030204"/>
                <a:ea typeface="Calibri" panose="020F0502020204030204"/>
                <a:cs typeface="Calibri" panose="020F0502020204030204"/>
              </a:rPr>
              <a:t>No matches: edit, download or search again</a:t>
            </a:r>
            <a:endParaRPr sz="2025">
              <a:solidFill>
                <a:srgbClr val="222222"/>
              </a:solidFill>
              <a:latin typeface="Calibri" panose="020F0502020204030204"/>
              <a:ea typeface="Calibri" panose="020F0502020204030204"/>
              <a:cs typeface="Calibri" panose="020F0502020204030204"/>
            </a:endParaRPr>
          </a:p>
        </p:txBody>
      </p:sp>
      <p:cxnSp>
        <p:nvCxnSpPr>
          <p:cNvPr id="23" name="Straight Arrow Connector 22"/>
          <p:cNvCxnSpPr>
            <a:stCxn id="9" idx="2"/>
            <a:endCxn id="11" idx="0"/>
          </p:cNvCxnSpPr>
          <p:nvPr/>
        </p:nvCxnSpPr>
        <p:spPr>
          <a:xfrm>
            <a:off x="7239000" y="4924425"/>
            <a:ext cx="0" cy="314325"/>
          </a:xfrm>
          <a:prstGeom prst="straightConnector1">
            <a:avLst/>
          </a:prstGeom>
          <a:ln w="19050">
            <a:solidFill>
              <a:srgbClr val="C00000"/>
            </a:solidFill>
            <a:tailEnd type="triangl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TextBox 2"/>
          <p:cNvSpPr>
            <a:spLocks noGrp="1"/>
          </p:cNvSpPr>
          <p:nvPr/>
        </p:nvSpPr>
        <p:spPr>
          <a:xfrm>
            <a:off x="2660072" y="193965"/>
            <a:ext cx="6871855" cy="583565"/>
          </a:xfrm>
          <a:prstGeom prst="rect">
            <a:avLst/>
          </a:prstGeom>
          <a:noFill/>
        </p:spPr>
        <p:txBody>
          <a:bodyPr wrap="square">
            <a:spAutoFit/>
          </a:bodyPr>
          <a:lstStyle/>
          <a:p>
            <a:pPr algn="ctr">
              <a:buNone/>
            </a:pPr>
            <a:r>
              <a:rPr lang="en-IN" sz="3200" b="1">
                <a:solidFill>
                  <a:schemeClr val="bg1"/>
                </a:solidFill>
              </a:rPr>
              <a:t>Flow Chart</a:t>
            </a:r>
            <a:endParaRPr lang="en-IN" sz="3200" b="1">
              <a:solidFill>
                <a:schemeClr val="bg1"/>
              </a:solidFill>
            </a:endParaRPr>
          </a:p>
        </p:txBody>
      </p:sp>
      <p:pic>
        <p:nvPicPr>
          <p:cNvPr id="4" name="Picture 3"/>
          <p:cNvPicPr>
            <a:picLocks noChangeAspect="1"/>
          </p:cNvPicPr>
          <p:nvPr/>
        </p:nvPicPr>
        <p:blipFill>
          <a:blip r:embed="rId1"/>
          <a:stretch>
            <a:fillRect/>
          </a:stretch>
        </p:blipFill>
        <p:spPr>
          <a:xfrm>
            <a:off x="681990" y="1013460"/>
            <a:ext cx="10828655" cy="5222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TextBox 2"/>
          <p:cNvSpPr>
            <a:spLocks noGrp="1"/>
          </p:cNvSpPr>
          <p:nvPr/>
        </p:nvSpPr>
        <p:spPr>
          <a:xfrm>
            <a:off x="2660072" y="193965"/>
            <a:ext cx="6871855" cy="584775"/>
          </a:xfrm>
          <a:prstGeom prst="rect">
            <a:avLst/>
          </a:prstGeom>
          <a:noFill/>
        </p:spPr>
        <p:txBody>
          <a:bodyPr wrap="square">
            <a:spAutoFit/>
          </a:bodyPr>
          <a:lstStyle/>
          <a:p>
            <a:pPr algn="ctr">
              <a:buNone/>
            </a:pPr>
            <a:r>
              <a:rPr sz="3200" b="1">
                <a:solidFill>
                  <a:schemeClr val="bg1"/>
                </a:solidFill>
              </a:rPr>
              <a:t>Results</a:t>
            </a:r>
            <a:endParaRPr sz="3200" b="1">
              <a:solidFill>
                <a:schemeClr val="bg1"/>
              </a:solidFill>
            </a:endParaRPr>
          </a:p>
        </p:txBody>
      </p:sp>
      <p:sp>
        <p:nvSpPr>
          <p:cNvPr id="4" name="Rectangles 3"/>
          <p:cNvSpPr>
            <a:spLocks noGrp="1"/>
          </p:cNvSpPr>
          <p:nvPr/>
        </p:nvSpPr>
        <p:spPr>
          <a:xfrm>
            <a:off x="3000375" y="1285875"/>
            <a:ext cx="8572500" cy="428625"/>
          </a:xfrm>
          <a:prstGeom prst="rect">
            <a:avLst/>
          </a:prstGeom>
          <a:noFill/>
          <a:ln w="0">
            <a:noFill/>
          </a:ln>
        </p:spPr>
        <p:txBody>
          <a:bodyPr>
            <a:noAutofit/>
          </a:bodyPr>
          <a:lstStyle/>
          <a:p>
            <a:pPr>
              <a:defRPr sz="2250" b="1">
                <a:solidFill>
                  <a:srgbClr val="C00000"/>
                </a:solidFill>
                <a:latin typeface="Calibri" panose="020F0502020204030204"/>
                <a:ea typeface="Calibri" panose="020F0502020204030204"/>
                <a:cs typeface="Calibri" panose="020F0502020204030204"/>
              </a:defRPr>
            </a:pPr>
            <a:r>
              <a:rPr sz="2250" b="1">
                <a:solidFill>
                  <a:srgbClr val="C00000"/>
                </a:solidFill>
                <a:latin typeface="Calibri" panose="020F0502020204030204"/>
                <a:ea typeface="Calibri" panose="020F0502020204030204"/>
                <a:cs typeface="Calibri" panose="020F0502020204030204"/>
              </a:rPr>
              <a:t>Illustrative expected outputs</a:t>
            </a:r>
            <a:endParaRPr sz="2250" b="1">
              <a:solidFill>
                <a:srgbClr val="C00000"/>
              </a:solidFill>
              <a:latin typeface="Calibri" panose="020F0502020204030204"/>
              <a:ea typeface="Calibri" panose="020F0502020204030204"/>
              <a:cs typeface="Calibri" panose="020F0502020204030204"/>
            </a:endParaRPr>
          </a:p>
        </p:txBody>
      </p:sp>
      <p:sp>
        <p:nvSpPr>
          <p:cNvPr id="5" name="Rectangles 4"/>
          <p:cNvSpPr>
            <a:spLocks noGrp="1"/>
          </p:cNvSpPr>
          <p:nvPr/>
        </p:nvSpPr>
        <p:spPr>
          <a:xfrm>
            <a:off x="3000375" y="1905000"/>
            <a:ext cx="8572500" cy="1428750"/>
          </a:xfrm>
          <a:prstGeom prst="rect">
            <a:avLst/>
          </a:prstGeom>
          <a:noFill/>
          <a:ln w="0">
            <a:noFill/>
          </a:ln>
        </p:spPr>
        <p:txBody>
          <a:bodyPr>
            <a:noAutofit/>
          </a:bodyPr>
          <a:lstStyle/>
          <a:p>
            <a:pPr>
              <a:defRPr sz="2250" b="0">
                <a:solidFill>
                  <a:srgbClr val="222222"/>
                </a:solidFill>
                <a:latin typeface="Calibri" panose="020F0502020204030204"/>
                <a:ea typeface="Calibri" panose="020F0502020204030204"/>
                <a:cs typeface="Calibri" panose="020F0502020204030204"/>
              </a:defRPr>
            </a:pPr>
            <a:r>
              <a:rPr sz="2250" b="0">
                <a:solidFill>
                  <a:srgbClr val="222222"/>
                </a:solidFill>
                <a:latin typeface="Calibri" panose="020F0502020204030204"/>
                <a:ea typeface="Calibri" panose="020F0502020204030204"/>
                <a:cs typeface="Calibri" panose="020F0502020204030204"/>
              </a:rPr>
              <a:t>Text: ABABA     Pattern: ABA</a:t>
            </a:r>
            <a:endParaRPr sz="2250" b="0">
              <a:solidFill>
                <a:srgbClr val="222222"/>
              </a:solidFill>
              <a:latin typeface="Calibri" panose="020F0502020204030204"/>
              <a:ea typeface="Calibri" panose="020F0502020204030204"/>
              <a:cs typeface="Calibri" panose="020F0502020204030204"/>
            </a:endParaRPr>
          </a:p>
          <a:p>
            <a:pPr>
              <a:defRPr sz="2250" b="0">
                <a:solidFill>
                  <a:srgbClr val="222222"/>
                </a:solidFill>
                <a:latin typeface="Calibri" panose="020F0502020204030204"/>
                <a:ea typeface="Calibri" panose="020F0502020204030204"/>
                <a:cs typeface="Calibri" panose="020F0502020204030204"/>
              </a:defRPr>
            </a:pPr>
            <a:r>
              <a:rPr sz="2250" b="0">
                <a:solidFill>
                  <a:srgbClr val="222222"/>
                </a:solidFill>
                <a:latin typeface="Calibri" panose="020F0502020204030204"/>
                <a:ea typeface="Calibri" panose="020F0502020204030204"/>
                <a:cs typeface="Calibri" panose="020F0502020204030204"/>
              </a:rPr>
              <a:t>Overlaps enabled: indices 0, 2     LPS: [0, 0, 1]</a:t>
            </a:r>
            <a:endParaRPr sz="2250" b="0">
              <a:solidFill>
                <a:srgbClr val="222222"/>
              </a:solidFill>
              <a:latin typeface="Calibri" panose="020F0502020204030204"/>
              <a:ea typeface="Calibri" panose="020F0502020204030204"/>
              <a:cs typeface="Calibri" panose="020F0502020204030204"/>
            </a:endParaRPr>
          </a:p>
          <a:p>
            <a:pPr>
              <a:defRPr sz="2250" b="0">
                <a:solidFill>
                  <a:srgbClr val="222222"/>
                </a:solidFill>
                <a:latin typeface="Calibri" panose="020F0502020204030204"/>
                <a:ea typeface="Calibri" panose="020F0502020204030204"/>
                <a:cs typeface="Calibri" panose="020F0502020204030204"/>
              </a:defRPr>
            </a:pPr>
            <a:r>
              <a:rPr sz="2250" b="0">
                <a:solidFill>
                  <a:srgbClr val="222222"/>
                </a:solidFill>
                <a:latin typeface="Calibri" panose="020F0502020204030204"/>
                <a:ea typeface="Calibri" panose="020F0502020204030204"/>
                <a:cs typeface="Calibri" panose="020F0502020204030204"/>
              </a:rPr>
              <a:t>Overlaps disabled: index 0</a:t>
            </a:r>
            <a:endParaRPr sz="2250"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3571875"/>
            <a:ext cx="857250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Text: HELLO     Pattern: XYZ</a:t>
            </a:r>
            <a:endParaRPr sz="2175" b="0">
              <a:solidFill>
                <a:srgbClr val="222222"/>
              </a:solidFill>
              <a:latin typeface="Calibri" panose="020F0502020204030204"/>
              <a:ea typeface="Calibri" panose="020F0502020204030204"/>
              <a:cs typeface="Calibri" panose="020F0502020204030204"/>
            </a:endParaRPr>
          </a:p>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No matches. Edit the source and download an edited copy.</a:t>
            </a: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4857750"/>
            <a:ext cx="8572500" cy="80962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The dashboard also shows character comparisons, match count and execution time for each analysis.</a:t>
            </a: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5905500"/>
            <a:ext cx="8572500" cy="428625"/>
          </a:xfrm>
          <a:prstGeom prst="rect">
            <a:avLst/>
          </a:prstGeom>
          <a:noFill/>
          <a:ln w="0">
            <a:noFill/>
          </a:ln>
        </p:spPr>
        <p:txBody>
          <a:bodyPr>
            <a:noAutofit/>
          </a:bodyPr>
          <a:lstStyle/>
          <a:p>
            <a:pPr>
              <a:defRPr sz="1650" b="0">
                <a:solidFill>
                  <a:srgbClr val="555555"/>
                </a:solidFill>
                <a:latin typeface="Calibri" panose="020F0502020204030204"/>
                <a:ea typeface="Calibri" panose="020F0502020204030204"/>
                <a:cs typeface="Calibri" panose="020F0502020204030204"/>
              </a:defRPr>
            </a:pPr>
            <a:r>
              <a:rPr sz="1650" b="0">
                <a:solidFill>
                  <a:srgbClr val="555555"/>
                </a:solidFill>
                <a:latin typeface="Calibri" panose="020F0502020204030204"/>
                <a:ea typeface="Calibri" panose="020F0502020204030204"/>
                <a:cs typeface="Calibri" panose="020F0502020204030204"/>
              </a:rPr>
              <a:t>These examples explain behavior. They are not large-file performance benchmarks.</a:t>
            </a:r>
            <a:endParaRPr sz="1650" b="0">
              <a:solidFill>
                <a:srgbClr val="555555"/>
              </a:solidFill>
              <a:latin typeface="Calibri" panose="020F0502020204030204"/>
              <a:ea typeface="Calibri" panose="020F0502020204030204"/>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a:spLocks noGrp="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TextBox 2"/>
          <p:cNvSpPr>
            <a:spLocks noGrp="1"/>
          </p:cNvSpPr>
          <p:nvPr/>
        </p:nvSpPr>
        <p:spPr>
          <a:xfrm>
            <a:off x="3547840" y="302403"/>
            <a:ext cx="6871855" cy="523220"/>
          </a:xfrm>
          <a:prstGeom prst="rect">
            <a:avLst/>
          </a:prstGeom>
          <a:noFill/>
        </p:spPr>
        <p:txBody>
          <a:bodyPr wrap="square">
            <a:spAutoFit/>
          </a:bodyPr>
          <a:lstStyle/>
          <a:p>
            <a:pPr algn="ctr">
              <a:buNone/>
            </a:pPr>
            <a:r>
              <a:rPr sz="2800" b="1">
                <a:solidFill>
                  <a:schemeClr val="bg1"/>
                </a:solidFill>
              </a:rPr>
              <a:t>Hardware and Software requirements</a:t>
            </a:r>
            <a:endParaRPr sz="2800" b="1">
              <a:solidFill>
                <a:schemeClr val="bg1"/>
              </a:solidFill>
            </a:endParaRPr>
          </a:p>
        </p:txBody>
      </p:sp>
      <p:sp>
        <p:nvSpPr>
          <p:cNvPr id="4" name="Rectangles 3"/>
          <p:cNvSpPr>
            <a:spLocks noGrp="1"/>
          </p:cNvSpPr>
          <p:nvPr/>
        </p:nvSpPr>
        <p:spPr>
          <a:xfrm>
            <a:off x="3000375" y="13811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Hardware: a computer that can run a JDK and a modern browser. Memory needs grow with uploaded text and result count.</a:t>
            </a:r>
            <a:endParaRPr sz="2175" b="0">
              <a:solidFill>
                <a:srgbClr val="222222"/>
              </a:solidFill>
              <a:latin typeface="Calibri" panose="020F0502020204030204"/>
              <a:ea typeface="Calibri" panose="020F0502020204030204"/>
              <a:cs typeface="Calibri" panose="020F0502020204030204"/>
            </a:endParaRPr>
          </a:p>
        </p:txBody>
      </p:sp>
      <p:sp>
        <p:nvSpPr>
          <p:cNvPr id="5" name="Rectangles 4"/>
          <p:cNvSpPr>
            <a:spLocks noGrp="1"/>
          </p:cNvSpPr>
          <p:nvPr/>
        </p:nvSpPr>
        <p:spPr>
          <a:xfrm>
            <a:off x="3000375" y="24288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Development: IntelliJ IDEA and Java 17 or newer. The backend uses the JDK’s built-in HTTP server.</a:t>
            </a: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Frontend: HTML, CSS and JavaScript. JSON requests connect the dashboard to POST /api/search.</a:t>
            </a: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Execution: </a:t>
            </a:r>
            <a:r>
              <a:rPr lang="en-IN" sz="2175" b="0">
                <a:solidFill>
                  <a:srgbClr val="222222"/>
                </a:solidFill>
                <a:latin typeface="Calibri" panose="020F0502020204030204"/>
                <a:ea typeface="Calibri" panose="020F0502020204030204"/>
                <a:cs typeface="Calibri" panose="020F0502020204030204"/>
              </a:rPr>
              <a:t>R</a:t>
            </a:r>
            <a:r>
              <a:rPr sz="2175" b="0">
                <a:solidFill>
                  <a:srgbClr val="222222"/>
                </a:solidFill>
                <a:latin typeface="Calibri" panose="020F0502020204030204"/>
                <a:ea typeface="Calibri" panose="020F0502020204030204"/>
                <a:cs typeface="Calibri" panose="020F0502020204030204"/>
              </a:rPr>
              <a:t>un main.java and open localhost:8080. Supported uploads include TXT, MD, CSV and LOG files.</a:t>
            </a:r>
            <a:endParaRPr sz="2175" b="0">
              <a:solidFill>
                <a:srgbClr val="222222"/>
              </a:solidFill>
              <a:latin typeface="Calibri" panose="020F0502020204030204"/>
              <a:ea typeface="Calibri" panose="020F0502020204030204"/>
              <a:cs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Rounded Corners 1"/>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TextBox 2"/>
          <p:cNvSpPr>
            <a:spLocks noGrp="1"/>
          </p:cNvSpPr>
          <p:nvPr/>
        </p:nvSpPr>
        <p:spPr>
          <a:xfrm>
            <a:off x="2660072" y="187903"/>
            <a:ext cx="6871855" cy="584775"/>
          </a:xfrm>
          <a:prstGeom prst="rect">
            <a:avLst/>
          </a:prstGeom>
          <a:noFill/>
        </p:spPr>
        <p:txBody>
          <a:bodyPr wrap="square">
            <a:spAutoFit/>
          </a:bodyPr>
          <a:lstStyle/>
          <a:p>
            <a:pPr algn="ctr">
              <a:buNone/>
            </a:pPr>
            <a:r>
              <a:rPr sz="3200" b="1">
                <a:solidFill>
                  <a:schemeClr val="bg1"/>
                </a:solidFill>
              </a:rPr>
              <a:t>Conclusion</a:t>
            </a:r>
            <a:endParaRPr sz="3200" b="1">
              <a:solidFill>
                <a:schemeClr val="bg1"/>
              </a:solidFill>
            </a:endParaRPr>
          </a:p>
        </p:txBody>
      </p:sp>
      <p:sp>
        <p:nvSpPr>
          <p:cNvPr id="4" name="Rectangles 3"/>
          <p:cNvSpPr>
            <a:spLocks noGrp="1"/>
          </p:cNvSpPr>
          <p:nvPr/>
        </p:nvSpPr>
        <p:spPr>
          <a:xfrm>
            <a:off x="3000375" y="1381125"/>
            <a:ext cx="8477250" cy="3048635"/>
          </a:xfrm>
          <a:prstGeom prst="rect">
            <a:avLst/>
          </a:prstGeom>
          <a:noFill/>
          <a:ln w="0">
            <a:noFill/>
          </a:ln>
        </p:spPr>
        <p:txBody>
          <a:bodyPr>
            <a:noAutofit/>
          </a:bodyPr>
          <a:lstStyle/>
          <a:p>
            <a:pPr algn="just">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KMP demonstrates exact matching by reusing prefix information instead of restarting after every mismatch.</a:t>
            </a:r>
            <a:r>
              <a:rPr>
                <a:sym typeface="+mn-ea"/>
              </a:rPr>
              <a:t>The application combines multiple-file search with an LPS display and detailed matching positions.Editing and downloading a source after a failed search makes the project useful beyond a search demonstration.The O(N + M) guarantee covers the KMP core. File loading, position reporting and rendering add application overhead.</a:t>
            </a: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5" name="Rectangles 4"/>
          <p:cNvSpPr>
            <a:spLocks noGrp="1"/>
          </p:cNvSpPr>
          <p:nvPr/>
        </p:nvSpPr>
        <p:spPr>
          <a:xfrm>
            <a:off x="3000375" y="24288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4" name="TextBox 3"/>
          <p:cNvSpPr>
            <a:spLocks noGrp="1"/>
          </p:cNvSpPr>
          <p:nvPr/>
        </p:nvSpPr>
        <p:spPr>
          <a:xfrm>
            <a:off x="2660072" y="154134"/>
            <a:ext cx="6871855" cy="584775"/>
          </a:xfrm>
          <a:prstGeom prst="rect">
            <a:avLst/>
          </a:prstGeom>
          <a:noFill/>
        </p:spPr>
        <p:txBody>
          <a:bodyPr wrap="square">
            <a:spAutoFit/>
          </a:bodyPr>
          <a:lstStyle/>
          <a:p>
            <a:pPr algn="ctr">
              <a:buNone/>
            </a:pPr>
            <a:r>
              <a:rPr sz="3200" b="1">
                <a:solidFill>
                  <a:schemeClr val="bg1"/>
                </a:solidFill>
              </a:rPr>
              <a:t> Future Scope</a:t>
            </a:r>
            <a:endParaRPr sz="3200" b="1">
              <a:solidFill>
                <a:schemeClr val="bg1"/>
              </a:solidFill>
            </a:endParaRPr>
          </a:p>
        </p:txBody>
      </p:sp>
      <p:sp>
        <p:nvSpPr>
          <p:cNvPr id="5" name="Rectangles 4"/>
          <p:cNvSpPr>
            <a:spLocks noGrp="1"/>
          </p:cNvSpPr>
          <p:nvPr/>
        </p:nvSpPr>
        <p:spPr>
          <a:xfrm>
            <a:off x="3000375" y="1381125"/>
            <a:ext cx="8477250" cy="4095750"/>
          </a:xfrm>
          <a:prstGeom prst="rect">
            <a:avLst/>
          </a:prstGeom>
          <a:noFill/>
          <a:ln w="0">
            <a:noFill/>
          </a:ln>
        </p:spPr>
        <p:txBody>
          <a:bodyPr>
            <a:noAutofit/>
          </a:bodyPr>
          <a:lstStyle/>
          <a:p>
            <a:pPr algn="just">
              <a:defRPr sz="2175" b="0">
                <a:solidFill>
                  <a:srgbClr val="222222"/>
                </a:solidFill>
                <a:latin typeface="Calibri" panose="020F0502020204030204"/>
                <a:ea typeface="Calibri" panose="020F0502020204030204"/>
                <a:cs typeface="Calibri" panose="020F0502020204030204"/>
              </a:defRPr>
            </a:pPr>
            <a:r>
              <a:rPr sz="2175" b="0">
                <a:solidFill>
                  <a:srgbClr val="222222"/>
                </a:solidFill>
                <a:latin typeface="Calibri" panose="020F0502020204030204"/>
                <a:ea typeface="Calibri" panose="020F0502020204030204"/>
                <a:cs typeface="Calibri" panose="020F0502020204030204"/>
              </a:rPr>
              <a:t>Stream large files in chunks while preserving KMP state across chunk boundaries.</a:t>
            </a:r>
            <a:r>
              <a:rPr>
                <a:sym typeface="+mn-ea"/>
              </a:rPr>
              <a:t>Compute line and column positions in one pass and paginate large result lists.Improve Unicode case handling and keep normalized matches aligned with original text.Benchmark against naive search using varied file sizes and repeated patterns. Add cancellation and progress updates.</a:t>
            </a: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2438400"/>
            <a:ext cx="8477250" cy="94297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4" name="TextBox 3"/>
          <p:cNvSpPr>
            <a:spLocks noGrp="1"/>
          </p:cNvSpPr>
          <p:nvPr/>
        </p:nvSpPr>
        <p:spPr>
          <a:xfrm>
            <a:off x="2660072" y="154134"/>
            <a:ext cx="6871855" cy="583565"/>
          </a:xfrm>
          <a:prstGeom prst="rect">
            <a:avLst/>
          </a:prstGeom>
          <a:noFill/>
        </p:spPr>
        <p:txBody>
          <a:bodyPr wrap="square">
            <a:spAutoFit/>
          </a:bodyPr>
          <a:lstStyle/>
          <a:p>
            <a:pPr algn="ctr">
              <a:buNone/>
            </a:pPr>
            <a:r>
              <a:rPr sz="3200" b="1">
                <a:solidFill>
                  <a:schemeClr val="bg1"/>
                </a:solidFill>
              </a:rPr>
              <a:t> </a:t>
            </a:r>
            <a:r>
              <a:rPr lang="en-IN" sz="3200" b="1">
                <a:solidFill>
                  <a:schemeClr val="bg1"/>
                </a:solidFill>
              </a:rPr>
              <a:t>Sample Code</a:t>
            </a:r>
            <a:endParaRPr lang="en-IN" sz="3200" b="1">
              <a:solidFill>
                <a:schemeClr val="bg1"/>
              </a:solidFill>
            </a:endParaRPr>
          </a:p>
        </p:txBody>
      </p:sp>
      <p:sp>
        <p:nvSpPr>
          <p:cNvPr id="5" name="Rectangles 4"/>
          <p:cNvSpPr>
            <a:spLocks noGrp="1"/>
          </p:cNvSpPr>
          <p:nvPr/>
        </p:nvSpPr>
        <p:spPr>
          <a:xfrm>
            <a:off x="3000375" y="1381125"/>
            <a:ext cx="8477250" cy="4095750"/>
          </a:xfrm>
          <a:prstGeom prst="rect">
            <a:avLst/>
          </a:prstGeom>
          <a:noFill/>
          <a:ln w="0">
            <a:noFill/>
          </a:ln>
        </p:spPr>
        <p:txBody>
          <a:bodyPr>
            <a:noAutofit/>
          </a:bodyPr>
          <a:lstStyle/>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$('editText').oninput = () =&gt; {</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    const entry = editEntries[Number($('editSource').value)];</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    if (entry) {</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        entry.draft = $('editText').value;</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    }</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    $('editStatus').textContent =</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        'Draft updated. Download or apply your changes.';</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r>
              <a:rPr lang="en-US" altLang="en-GB" b="0">
                <a:solidFill>
                  <a:srgbClr val="222222"/>
                </a:solidFill>
                <a:latin typeface="Calibri" panose="020F0502020204030204"/>
                <a:ea typeface="Calibri" panose="020F0502020204030204"/>
                <a:cs typeface="Calibri" panose="020F0502020204030204"/>
              </a:rPr>
              <a:t>};</a:t>
            </a:r>
            <a:endParaRPr lang="en-US" altLang="en-GB"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2438400"/>
            <a:ext cx="8477250" cy="94297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4" name="TextBox 3"/>
          <p:cNvSpPr>
            <a:spLocks noGrp="1"/>
          </p:cNvSpPr>
          <p:nvPr/>
        </p:nvSpPr>
        <p:spPr>
          <a:xfrm>
            <a:off x="2660072" y="154134"/>
            <a:ext cx="6871855" cy="583565"/>
          </a:xfrm>
          <a:prstGeom prst="rect">
            <a:avLst/>
          </a:prstGeom>
          <a:noFill/>
        </p:spPr>
        <p:txBody>
          <a:bodyPr wrap="square">
            <a:spAutoFit/>
          </a:bodyPr>
          <a:lstStyle/>
          <a:p>
            <a:pPr algn="ctr">
              <a:buNone/>
            </a:pPr>
            <a:r>
              <a:rPr sz="3200" b="1">
                <a:solidFill>
                  <a:schemeClr val="bg1"/>
                </a:solidFill>
              </a:rPr>
              <a:t> </a:t>
            </a:r>
            <a:r>
              <a:rPr lang="en-IN" sz="3200" b="1">
                <a:solidFill>
                  <a:schemeClr val="bg1"/>
                </a:solidFill>
              </a:rPr>
              <a:t>Sample Code</a:t>
            </a:r>
            <a:endParaRPr lang="en-IN" sz="3200" b="1">
              <a:solidFill>
                <a:schemeClr val="bg1"/>
              </a:solidFill>
            </a:endParaRPr>
          </a:p>
        </p:txBody>
      </p:sp>
      <p:sp>
        <p:nvSpPr>
          <p:cNvPr id="5" name="Rectangles 4"/>
          <p:cNvSpPr>
            <a:spLocks noGrp="1"/>
          </p:cNvSpPr>
          <p:nvPr/>
        </p:nvSpPr>
        <p:spPr>
          <a:xfrm>
            <a:off x="3000375" y="1381125"/>
            <a:ext cx="8477250" cy="4095750"/>
          </a:xfrm>
          <a:prstGeom prst="rect">
            <a:avLst/>
          </a:prstGeom>
          <a:noFill/>
          <a:ln w="0">
            <a:noFill/>
          </a:ln>
        </p:spPr>
        <p:txBody>
          <a:bodyPr>
            <a:noAutofit/>
          </a:bodyPr>
          <a:lstStyle/>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2438400"/>
            <a:ext cx="8477250" cy="94297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2" name="Text Box 1"/>
          <p:cNvSpPr txBox="1"/>
          <p:nvPr/>
        </p:nvSpPr>
        <p:spPr>
          <a:xfrm>
            <a:off x="3652520" y="1283335"/>
            <a:ext cx="7896225" cy="5121275"/>
          </a:xfrm>
          <a:prstGeom prst="rect">
            <a:avLst/>
          </a:prstGeom>
          <a:noFill/>
        </p:spPr>
        <p:txBody>
          <a:bodyPr wrap="square" rtlCol="0">
            <a:spAutoFit/>
          </a:bodyPr>
          <a:p>
            <a:pPr algn="just"/>
            <a:r>
              <a:rPr lang="en-US" altLang="en-GB" sz="2180"/>
              <a:t>private static int[] buildLps(String pattern) {</a:t>
            </a:r>
            <a:endParaRPr lang="en-US" altLang="en-GB" sz="2180"/>
          </a:p>
          <a:p>
            <a:pPr algn="just"/>
            <a:r>
              <a:rPr lang="en-US" altLang="en-GB" sz="2180"/>
              <a:t>    int[] lps = new int[pattern.length()];</a:t>
            </a:r>
            <a:endParaRPr lang="en-US" altLang="en-GB" sz="2180"/>
          </a:p>
          <a:p>
            <a:pPr algn="just"/>
            <a:endParaRPr lang="en-US" altLang="en-GB" sz="2180"/>
          </a:p>
          <a:p>
            <a:pPr algn="just"/>
            <a:r>
              <a:rPr lang="en-US" altLang="en-GB" sz="2180"/>
              <a:t>    for (int i = 1, length = 0; i &lt; pattern.length();) {</a:t>
            </a:r>
            <a:endParaRPr lang="en-US" altLang="en-GB" sz="2180"/>
          </a:p>
          <a:p>
            <a:pPr algn="just"/>
            <a:r>
              <a:rPr lang="en-US" altLang="en-GB" sz="2180"/>
              <a:t>        if (pattern.charAt(i) == pattern.charAt(length)) {</a:t>
            </a:r>
            <a:endParaRPr lang="en-US" altLang="en-GB" sz="2180"/>
          </a:p>
          <a:p>
            <a:pPr algn="just"/>
            <a:r>
              <a:rPr lang="en-US" altLang="en-GB" sz="2180"/>
              <a:t>            lps[i++] = ++length;</a:t>
            </a:r>
            <a:endParaRPr lang="en-US" altLang="en-GB" sz="2180"/>
          </a:p>
          <a:p>
            <a:pPr algn="just"/>
            <a:r>
              <a:rPr lang="en-US" altLang="en-GB" sz="2180"/>
              <a:t>        } else if (length &gt; 0) {</a:t>
            </a:r>
            <a:endParaRPr lang="en-US" altLang="en-GB" sz="2180"/>
          </a:p>
          <a:p>
            <a:pPr algn="just"/>
            <a:r>
              <a:rPr lang="en-US" altLang="en-GB" sz="2180"/>
              <a:t>            length = lps[length - 1];</a:t>
            </a:r>
            <a:endParaRPr lang="en-US" altLang="en-GB" sz="2180"/>
          </a:p>
          <a:p>
            <a:pPr algn="just"/>
            <a:r>
              <a:rPr lang="en-US" altLang="en-GB" sz="2180"/>
              <a:t>        } else {</a:t>
            </a:r>
            <a:endParaRPr lang="en-US" altLang="en-GB" sz="2180"/>
          </a:p>
          <a:p>
            <a:pPr algn="just"/>
            <a:r>
              <a:rPr lang="en-US" altLang="en-GB" sz="2180"/>
              <a:t>            i++;</a:t>
            </a:r>
            <a:endParaRPr lang="en-US" altLang="en-GB" sz="2180"/>
          </a:p>
          <a:p>
            <a:pPr algn="just"/>
            <a:r>
              <a:rPr lang="en-US" altLang="en-GB" sz="2180"/>
              <a:t>        }</a:t>
            </a:r>
            <a:endParaRPr lang="en-US" altLang="en-GB" sz="2180"/>
          </a:p>
          <a:p>
            <a:pPr algn="just"/>
            <a:r>
              <a:rPr lang="en-US" altLang="en-GB" sz="2180"/>
              <a:t>    }</a:t>
            </a:r>
            <a:endParaRPr lang="en-US" altLang="en-GB" sz="2180"/>
          </a:p>
          <a:p>
            <a:pPr algn="just"/>
            <a:endParaRPr lang="en-US" altLang="en-GB" sz="2180"/>
          </a:p>
          <a:p>
            <a:pPr algn="just"/>
            <a:r>
              <a:rPr lang="en-US" altLang="en-GB" sz="2180"/>
              <a:t>    return lps;</a:t>
            </a:r>
            <a:endParaRPr lang="en-US" altLang="en-GB" sz="2180"/>
          </a:p>
          <a:p>
            <a:pPr algn="just"/>
            <a:r>
              <a:rPr lang="en-US" altLang="en-GB" sz="2180"/>
              <a:t>}</a:t>
            </a:r>
            <a:endParaRPr lang="en-US" altLang="en-GB" sz="218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4" name="TextBox 3"/>
          <p:cNvSpPr>
            <a:spLocks noGrp="1"/>
          </p:cNvSpPr>
          <p:nvPr/>
        </p:nvSpPr>
        <p:spPr>
          <a:xfrm>
            <a:off x="2660072" y="154134"/>
            <a:ext cx="6871855" cy="583565"/>
          </a:xfrm>
          <a:prstGeom prst="rect">
            <a:avLst/>
          </a:prstGeom>
          <a:noFill/>
        </p:spPr>
        <p:txBody>
          <a:bodyPr wrap="square">
            <a:spAutoFit/>
          </a:bodyPr>
          <a:lstStyle/>
          <a:p>
            <a:pPr algn="ctr">
              <a:buNone/>
            </a:pPr>
            <a:r>
              <a:rPr sz="3200" b="1">
                <a:solidFill>
                  <a:schemeClr val="bg1"/>
                </a:solidFill>
              </a:rPr>
              <a:t> </a:t>
            </a:r>
            <a:r>
              <a:rPr lang="en-IN" sz="3200" b="1">
                <a:solidFill>
                  <a:schemeClr val="bg1"/>
                </a:solidFill>
              </a:rPr>
              <a:t>Terminal Output</a:t>
            </a:r>
            <a:endParaRPr lang="en-IN" sz="3200" b="1">
              <a:solidFill>
                <a:schemeClr val="bg1"/>
              </a:solidFill>
            </a:endParaRPr>
          </a:p>
        </p:txBody>
      </p:sp>
      <p:sp>
        <p:nvSpPr>
          <p:cNvPr id="5" name="Rectangles 4"/>
          <p:cNvSpPr>
            <a:spLocks noGrp="1"/>
          </p:cNvSpPr>
          <p:nvPr/>
        </p:nvSpPr>
        <p:spPr>
          <a:xfrm>
            <a:off x="3000375" y="1381125"/>
            <a:ext cx="8477250" cy="4095750"/>
          </a:xfrm>
          <a:prstGeom prst="rect">
            <a:avLst/>
          </a:prstGeom>
          <a:noFill/>
          <a:ln w="0">
            <a:noFill/>
          </a:ln>
        </p:spPr>
        <p:txBody>
          <a:bodyPr>
            <a:noAutofit/>
          </a:bodyPr>
          <a:lstStyle/>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2438400"/>
            <a:ext cx="8477250" cy="94297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pic>
        <p:nvPicPr>
          <p:cNvPr id="9" name="Picture 8"/>
          <p:cNvPicPr>
            <a:picLocks noChangeAspect="1"/>
          </p:cNvPicPr>
          <p:nvPr/>
        </p:nvPicPr>
        <p:blipFill>
          <a:blip r:embed="rId1"/>
          <a:stretch>
            <a:fillRect/>
          </a:stretch>
        </p:blipFill>
        <p:spPr>
          <a:xfrm>
            <a:off x="807720" y="847725"/>
            <a:ext cx="10077450" cy="56553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4" name="TextBox 3"/>
          <p:cNvSpPr>
            <a:spLocks noGrp="1"/>
          </p:cNvSpPr>
          <p:nvPr/>
        </p:nvSpPr>
        <p:spPr>
          <a:xfrm>
            <a:off x="2660072" y="154134"/>
            <a:ext cx="6871855" cy="583565"/>
          </a:xfrm>
          <a:prstGeom prst="rect">
            <a:avLst/>
          </a:prstGeom>
          <a:noFill/>
        </p:spPr>
        <p:txBody>
          <a:bodyPr wrap="square">
            <a:spAutoFit/>
          </a:bodyPr>
          <a:lstStyle/>
          <a:p>
            <a:pPr algn="ctr">
              <a:buNone/>
            </a:pPr>
            <a:r>
              <a:rPr sz="3200" b="1">
                <a:solidFill>
                  <a:schemeClr val="bg1"/>
                </a:solidFill>
              </a:rPr>
              <a:t> </a:t>
            </a:r>
            <a:r>
              <a:rPr lang="en-IN" sz="3200" b="1">
                <a:solidFill>
                  <a:schemeClr val="bg1"/>
                </a:solidFill>
              </a:rPr>
              <a:t>Sample</a:t>
            </a:r>
            <a:r>
              <a:rPr lang="en-US" altLang="en-IN" sz="3200" b="1">
                <a:solidFill>
                  <a:schemeClr val="bg1"/>
                </a:solidFill>
              </a:rPr>
              <a:t> Output</a:t>
            </a:r>
            <a:endParaRPr lang="en-US" altLang="en-IN" sz="3200" b="1">
              <a:solidFill>
                <a:schemeClr val="bg1"/>
              </a:solidFill>
            </a:endParaRPr>
          </a:p>
        </p:txBody>
      </p:sp>
      <p:sp>
        <p:nvSpPr>
          <p:cNvPr id="5" name="Rectangles 4"/>
          <p:cNvSpPr>
            <a:spLocks noGrp="1"/>
          </p:cNvSpPr>
          <p:nvPr/>
        </p:nvSpPr>
        <p:spPr>
          <a:xfrm>
            <a:off x="3000375" y="1381125"/>
            <a:ext cx="8477250" cy="4095750"/>
          </a:xfrm>
          <a:prstGeom prst="rect">
            <a:avLst/>
          </a:prstGeom>
          <a:noFill/>
          <a:ln w="0">
            <a:noFill/>
          </a:ln>
        </p:spPr>
        <p:txBody>
          <a:bodyPr>
            <a:noAutofit/>
          </a:bodyPr>
          <a:lstStyle/>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2438400"/>
            <a:ext cx="8477250" cy="94297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pic>
        <p:nvPicPr>
          <p:cNvPr id="2" name="Picture 1" descr="Screenshot 2026-09-21 152542"/>
          <p:cNvPicPr>
            <a:picLocks noChangeAspect="1"/>
          </p:cNvPicPr>
          <p:nvPr/>
        </p:nvPicPr>
        <p:blipFill>
          <a:blip r:embed="rId1"/>
          <a:stretch>
            <a:fillRect/>
          </a:stretch>
        </p:blipFill>
        <p:spPr>
          <a:xfrm>
            <a:off x="871220" y="832485"/>
            <a:ext cx="10204450" cy="57931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4" name="TextBox 3"/>
          <p:cNvSpPr>
            <a:spLocks noGrp="1"/>
          </p:cNvSpPr>
          <p:nvPr/>
        </p:nvSpPr>
        <p:spPr>
          <a:xfrm>
            <a:off x="2660072" y="154134"/>
            <a:ext cx="6871855" cy="583565"/>
          </a:xfrm>
          <a:prstGeom prst="rect">
            <a:avLst/>
          </a:prstGeom>
          <a:noFill/>
        </p:spPr>
        <p:txBody>
          <a:bodyPr wrap="square">
            <a:spAutoFit/>
          </a:bodyPr>
          <a:lstStyle/>
          <a:p>
            <a:pPr algn="ctr">
              <a:buNone/>
            </a:pPr>
            <a:r>
              <a:rPr sz="3200" b="1">
                <a:solidFill>
                  <a:schemeClr val="bg1"/>
                </a:solidFill>
              </a:rPr>
              <a:t> </a:t>
            </a:r>
            <a:r>
              <a:rPr lang="en-US" sz="3200" b="1">
                <a:solidFill>
                  <a:schemeClr val="bg1"/>
                </a:solidFill>
              </a:rPr>
              <a:t>Geo-Tag</a:t>
            </a:r>
            <a:endParaRPr lang="en-US" sz="3200" b="1">
              <a:solidFill>
                <a:schemeClr val="bg1"/>
              </a:solidFill>
            </a:endParaRPr>
          </a:p>
        </p:txBody>
      </p:sp>
      <p:sp>
        <p:nvSpPr>
          <p:cNvPr id="5" name="Rectangles 4"/>
          <p:cNvSpPr>
            <a:spLocks noGrp="1"/>
          </p:cNvSpPr>
          <p:nvPr/>
        </p:nvSpPr>
        <p:spPr>
          <a:xfrm>
            <a:off x="3000375" y="1381125"/>
            <a:ext cx="8477250" cy="4095750"/>
          </a:xfrm>
          <a:prstGeom prst="rect">
            <a:avLst/>
          </a:prstGeom>
          <a:noFill/>
          <a:ln w="0">
            <a:noFill/>
          </a:ln>
        </p:spPr>
        <p:txBody>
          <a:bodyPr>
            <a:noAutofit/>
          </a:bodyPr>
          <a:lstStyle/>
          <a:p>
            <a:pPr algn="just">
              <a:defRPr sz="2175" b="0">
                <a:solidFill>
                  <a:srgbClr val="222222"/>
                </a:solidFill>
                <a:latin typeface="Calibri" panose="020F0502020204030204"/>
                <a:ea typeface="Calibri" panose="020F0502020204030204"/>
                <a:cs typeface="Calibri" panose="020F0502020204030204"/>
              </a:defRPr>
            </a:pPr>
            <a:endParaRPr b="0">
              <a:solidFill>
                <a:srgbClr val="222222"/>
              </a:solidFill>
              <a:latin typeface="Calibri" panose="020F0502020204030204"/>
              <a:ea typeface="Calibri" panose="020F0502020204030204"/>
              <a:cs typeface="Calibri" panose="020F0502020204030204"/>
            </a:endParaRPr>
          </a:p>
          <a:p>
            <a:pPr algn="just">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6" name="Rectangles 5"/>
          <p:cNvSpPr>
            <a:spLocks noGrp="1"/>
          </p:cNvSpPr>
          <p:nvPr/>
        </p:nvSpPr>
        <p:spPr>
          <a:xfrm>
            <a:off x="3000375" y="2438400"/>
            <a:ext cx="8477250" cy="942975"/>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7" name="Rectangles 6"/>
          <p:cNvSpPr>
            <a:spLocks noGrp="1"/>
          </p:cNvSpPr>
          <p:nvPr/>
        </p:nvSpPr>
        <p:spPr>
          <a:xfrm>
            <a:off x="3000375" y="347662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sp>
        <p:nvSpPr>
          <p:cNvPr id="8" name="Rectangles 7"/>
          <p:cNvSpPr>
            <a:spLocks noGrp="1"/>
          </p:cNvSpPr>
          <p:nvPr/>
        </p:nvSpPr>
        <p:spPr>
          <a:xfrm>
            <a:off x="3000375" y="4524375"/>
            <a:ext cx="8477250" cy="952500"/>
          </a:xfrm>
          <a:prstGeom prst="rect">
            <a:avLst/>
          </a:prstGeom>
          <a:noFill/>
          <a:ln w="0">
            <a:noFill/>
          </a:ln>
        </p:spPr>
        <p:txBody>
          <a:bodyPr>
            <a:noAutofit/>
          </a:bodyPr>
          <a:lstStyle/>
          <a:p>
            <a:pPr>
              <a:defRPr sz="2175" b="0">
                <a:solidFill>
                  <a:srgbClr val="222222"/>
                </a:solidFill>
                <a:latin typeface="Calibri" panose="020F0502020204030204"/>
                <a:ea typeface="Calibri" panose="020F0502020204030204"/>
                <a:cs typeface="Calibri" panose="020F0502020204030204"/>
              </a:defRPr>
            </a:pPr>
            <a:endParaRPr sz="2175" b="0">
              <a:solidFill>
                <a:srgbClr val="222222"/>
              </a:solidFill>
              <a:latin typeface="Calibri" panose="020F0502020204030204"/>
              <a:ea typeface="Calibri" panose="020F0502020204030204"/>
              <a:cs typeface="Calibri" panose="020F0502020204030204"/>
            </a:endParaRPr>
          </a:p>
        </p:txBody>
      </p:sp>
      <p:pic>
        <p:nvPicPr>
          <p:cNvPr id="9" name="Picture 8"/>
          <p:cNvPicPr>
            <a:picLocks noChangeAspect="1"/>
          </p:cNvPicPr>
          <p:nvPr/>
        </p:nvPicPr>
        <p:blipFill>
          <a:blip r:embed="rId1"/>
          <a:stretch>
            <a:fillRect/>
          </a:stretch>
        </p:blipFill>
        <p:spPr>
          <a:xfrm>
            <a:off x="0" y="1669415"/>
            <a:ext cx="5510530" cy="3138170"/>
          </a:xfrm>
          <a:prstGeom prst="rect">
            <a:avLst/>
          </a:prstGeom>
        </p:spPr>
      </p:pic>
      <p:pic>
        <p:nvPicPr>
          <p:cNvPr id="10" name="Picture 9"/>
          <p:cNvPicPr>
            <a:picLocks noChangeAspect="1"/>
          </p:cNvPicPr>
          <p:nvPr/>
        </p:nvPicPr>
        <p:blipFill>
          <a:blip r:embed="rId2"/>
          <a:stretch>
            <a:fillRect/>
          </a:stretch>
        </p:blipFill>
        <p:spPr>
          <a:xfrm>
            <a:off x="6691630" y="1669415"/>
            <a:ext cx="5500370" cy="31216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Rounded Corners 2"/>
          <p:cNvSpPr>
            <a:spLocks noGrp="1"/>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r>
              <a:rPr sz="3200" b="1"/>
              <a:t>Thank you</a:t>
            </a:r>
            <a:endParaRPr sz="3200" b="1"/>
          </a:p>
        </p:txBody>
      </p:sp>
      <p:sp>
        <p:nvSpPr>
          <p:cNvPr id="4" name="Rectangles 3"/>
          <p:cNvSpPr>
            <a:spLocks noGrp="1"/>
          </p:cNvSpPr>
          <p:nvPr/>
        </p:nvSpPr>
        <p:spPr>
          <a:xfrm>
            <a:off x="4000500" y="4286250"/>
            <a:ext cx="5715000" cy="523875"/>
          </a:xfrm>
          <a:prstGeom prst="rect">
            <a:avLst/>
          </a:prstGeom>
          <a:noFill/>
          <a:ln w="0">
            <a:noFill/>
          </a:ln>
        </p:spPr>
        <p:txBody>
          <a:bodyPr>
            <a:noAutofit/>
          </a:bodyPr>
          <a:lstStyle/>
          <a:p>
            <a:pPr>
              <a:defRPr sz="2250" b="0">
                <a:solidFill>
                  <a:srgbClr val="0070C0"/>
                </a:solidFill>
                <a:latin typeface="Calibri" panose="020F0502020204030204"/>
                <a:ea typeface="Calibri" panose="020F0502020204030204"/>
                <a:cs typeface="Calibri" panose="020F0502020204030204"/>
              </a:defRPr>
            </a:pPr>
            <a:r>
              <a:rPr sz="2250" b="0">
                <a:solidFill>
                  <a:srgbClr val="0070C0"/>
                </a:solidFill>
                <a:latin typeface="Calibri" panose="020F0502020204030204"/>
                <a:ea typeface="Calibri" panose="020F0502020204030204"/>
                <a:cs typeface="Calibri" panose="020F0502020204030204"/>
              </a:rPr>
              <a:t>Questions and discussion</a:t>
            </a:r>
            <a:endParaRPr sz="2250" b="0">
              <a:solidFill>
                <a:srgbClr val="0070C0"/>
              </a:solidFill>
              <a:latin typeface="Calibri" panose="020F0502020204030204"/>
              <a:ea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4747</Words>
  <Application>WPS Presentation</Application>
  <PresentationFormat>Converted Presentation</PresentationFormat>
  <Paragraphs>176</Paragraphs>
  <Slides>18</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18</vt:i4>
      </vt:variant>
    </vt:vector>
  </HeadingPairs>
  <TitlesOfParts>
    <vt:vector size="30" baseType="lpstr">
      <vt:lpstr>Arial</vt:lpstr>
      <vt:lpstr>SimSun</vt:lpstr>
      <vt:lpstr>Wingdings</vt:lpstr>
      <vt:lpstr>Arial</vt:lpstr>
      <vt:lpstr>Calibri</vt:lpstr>
      <vt:lpstr>Times New Roman</vt:lpstr>
      <vt:lpstr>Calibri Light</vt:lpstr>
      <vt:lpstr>Microsoft YaHei</vt:lpstr>
      <vt:lpstr>Arial Unicode MS</vt:lpstr>
      <vt:lpstr>Calibri</vt:lpstr>
      <vt:lpstr>Office Theme</vt:lpstr>
      <vt:lpstr>1_Office Theme</vt:lpstr>
      <vt:lpstr>Using the KMP Algorithm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and Algorithms -3(25CS2103E)High-Performance Text SearchUsing the KMP Algorithm</dc:title>
  <dc:creator>Walnut Exporter</dc:creator>
  <cp:lastModifiedBy>Jashwanth Reddy</cp:lastModifiedBy>
  <cp:revision>2</cp:revision>
  <dcterms:created xsi:type="dcterms:W3CDTF">2026-09-21T10:07:00Z</dcterms:created>
  <dcterms:modified xsi:type="dcterms:W3CDTF">2026-10-01T07:40:43Z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5D69F00D5CF54EE8A16462E6B1573100_12</vt:lpwstr>
  </property>
  <property fmtid="{D5CDD505-2E9C-101B-9397-08002B2CF9AE}" pid="3" name="KSOProductBuildVer">
    <vt:lpwstr>2057-12.2.0.23206</vt:lpwstr>
  </property>
</Properties>
</file>